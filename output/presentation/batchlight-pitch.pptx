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d8f7ffda3d4295" /><Relationship Type="http://schemas.openxmlformats.org/officeDocument/2006/relationships/extended-properties" Target="/docProps/app.xml" Id="R2a637b55297f4e8e" /><Relationship Type="http://schemas.openxmlformats.org/officeDocument/2006/relationships/officeDocument" Target="/ppt/presentation.xml" Id="R0637ed0b360a46f4" /></Relationships>
</file>

<file path=ppt/presentation.xml><?xml version="1.0" encoding="utf-8"?>
<p:presentation xmlns:p="http://schemas.openxmlformats.org/presentationml/2006/main">
  <p:sldMasterIdLst>
    <p:sldMasterId xmlns:r="http://schemas.openxmlformats.org/officeDocument/2006/relationships" id="2147483648" r:id="R5261021ca0e846da"/>
  </p:sldMasterIdLst>
  <p:notesMasterIdLst>
    <p:notesMasterId xmlns:r="http://schemas.openxmlformats.org/officeDocument/2006/relationships" r:id="Rf463c03c057e4423"/>
  </p:notesMasterIdLst>
  <p:sldIdLst>
    <p:sldId xmlns:r="http://schemas.openxmlformats.org/officeDocument/2006/relationships" id="256" r:id="R5ba48410371d46e7"/>
    <p:sldId xmlns:r="http://schemas.openxmlformats.org/officeDocument/2006/relationships" id="257" r:id="Rfeb5b63eeed84e9a"/>
    <p:sldId xmlns:r="http://schemas.openxmlformats.org/officeDocument/2006/relationships" id="258" r:id="R327fd4513ea44385"/>
    <p:sldId xmlns:r="http://schemas.openxmlformats.org/officeDocument/2006/relationships" id="259" r:id="R5ef2fd50d6164aae"/>
    <p:sldId xmlns:r="http://schemas.openxmlformats.org/officeDocument/2006/relationships" id="260" r:id="Ra6f8989518bb4283"/>
    <p:sldId xmlns:r="http://schemas.openxmlformats.org/officeDocument/2006/relationships" id="261" r:id="Rf11521427ec545a1"/>
    <p:sldId xmlns:r="http://schemas.openxmlformats.org/officeDocument/2006/relationships" id="262" r:id="R92cd252419b34711"/>
    <p:sldId xmlns:r="http://schemas.openxmlformats.org/officeDocument/2006/relationships" id="263" r:id="R75344edff5a8400e"/>
    <p:sldId xmlns:r="http://schemas.openxmlformats.org/officeDocument/2006/relationships" id="264" r:id="Rbb0bfbbafb4d43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5a8f808fe3437b" /><Relationship Type="http://schemas.openxmlformats.org/officeDocument/2006/relationships/slideMaster" Target="/ppt/slideMasters/slideMaster1.xml" Id="R5261021ca0e846da" /><Relationship Type="http://schemas.openxmlformats.org/officeDocument/2006/relationships/notesMaster" Target="/ppt/notesMasters/notesMaster1.xml" Id="Rf463c03c057e4423" /><Relationship Type="http://schemas.openxmlformats.org/officeDocument/2006/relationships/presProps" Target="/ppt/presProps.xml" Id="Rea818b82cfb74f62" /><Relationship Type="http://schemas.openxmlformats.org/officeDocument/2006/relationships/tableStyles" Target="/ppt/tableStyles.xml" Id="R3d983fd199ea486e" /><Relationship Type="http://schemas.openxmlformats.org/officeDocument/2006/relationships/slide" Target="/ppt/slides/slide1.xml" Id="R5ba48410371d46e7" /><Relationship Type="http://schemas.openxmlformats.org/officeDocument/2006/relationships/slide" Target="/ppt/slides/slide2.xml" Id="Rfeb5b63eeed84e9a" /><Relationship Type="http://schemas.openxmlformats.org/officeDocument/2006/relationships/slide" Target="/ppt/slides/slide3.xml" Id="R327fd4513ea44385" /><Relationship Type="http://schemas.openxmlformats.org/officeDocument/2006/relationships/slide" Target="/ppt/slides/slide4.xml" Id="R5ef2fd50d6164aae" /><Relationship Type="http://schemas.openxmlformats.org/officeDocument/2006/relationships/slide" Target="/ppt/slides/slide5.xml" Id="Ra6f8989518bb4283" /><Relationship Type="http://schemas.openxmlformats.org/officeDocument/2006/relationships/slide" Target="/ppt/slides/slide6.xml" Id="Rf11521427ec545a1" /><Relationship Type="http://schemas.openxmlformats.org/officeDocument/2006/relationships/slide" Target="/ppt/slides/slide7.xml" Id="R92cd252419b34711" /><Relationship Type="http://schemas.openxmlformats.org/officeDocument/2006/relationships/slide" Target="/ppt/slides/slide8.xml" Id="R75344edff5a8400e" /><Relationship Type="http://schemas.openxmlformats.org/officeDocument/2006/relationships/slide" Target="/ppt/slides/slide9.xml" Id="Rbb0bfbbafb4d43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a1f5a8bc234f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0b15a871e3475d" /><Relationship Type="http://schemas.openxmlformats.org/officeDocument/2006/relationships/notesMaster" Target="/ppt/notesMasters/notesMaster1.xml" Id="Rac1a331e303144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1ab523a64b489a" /><Relationship Type="http://schemas.openxmlformats.org/officeDocument/2006/relationships/notesMaster" Target="/ppt/notesMasters/notesMaster1.xml" Id="Rbe225c4ccb2d44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240883981645ae" /><Relationship Type="http://schemas.openxmlformats.org/officeDocument/2006/relationships/notesMaster" Target="/ppt/notesMasters/notesMaster1.xml" Id="R44cff153a4b140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cbfe778c2c49df" /><Relationship Type="http://schemas.openxmlformats.org/officeDocument/2006/relationships/notesMaster" Target="/ppt/notesMasters/notesMaster1.xml" Id="R46e94144273944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eb8583dd9e40de" /><Relationship Type="http://schemas.openxmlformats.org/officeDocument/2006/relationships/notesMaster" Target="/ppt/notesMasters/notesMaster1.xml" Id="Ra4c7e9dd5daf43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594ce360bf46d0" /><Relationship Type="http://schemas.openxmlformats.org/officeDocument/2006/relationships/notesMaster" Target="/ppt/notesMasters/notesMaster1.xml" Id="R194233a1664540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46816f7cc24ae6" /><Relationship Type="http://schemas.openxmlformats.org/officeDocument/2006/relationships/notesMaster" Target="/ppt/notesMasters/notesMaster1.xml" Id="R92218126d55b4b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05f8d0b53c4b73" /><Relationship Type="http://schemas.openxmlformats.org/officeDocument/2006/relationships/notesMaster" Target="/ppt/notesMasters/notesMaster1.xml" Id="Rd65cbcf5dc664d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46c8c4b98a4743" /><Relationship Type="http://schemas.openxmlformats.org/officeDocument/2006/relationships/notesMaster" Target="/ppt/notesMasters/notesMaster1.xml" Id="R645893ed7b214f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Shivam Gupta is project creator and product owner. Built with substantial AI assistance for research, design, implementation, testing, and writing. This deck presents a working hackathon product and an unvalidated commercial hypothesis. Source repository: https://github.com/shi1720/HACK47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story is fictional and uses the synthetic Ember &amp; Oak fixture. PAP-2409 flows into BASE-1809, then three finished batches. CHL-1909-X has an incomplete spice record. No customer incident is represented. All Ember &amp; Oak records and quantities are synthetic. Batchlight does not determine food safety or certify compliance.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when present, is captured from the real Batchlight interface with synthetic records. The recorded path starts at PAP-2409, passes through BASE-1809, and reaches three finished runs totalling 480 units. Recorded shipments total 300 units to three synthetic customers. The remaining 180 units are on hand. Do not treat these figures as customer outcomes. All Ember &amp; Oak records and quantities are synthetic. Batchlight does not determine food safety or certify compliance.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Classification is based on stored records. The trace engine preserves explicitly incomplete records and propagates uncertainty through downstream production. A recorded connection does not establish contamination. A missing connection does not establish safety. Quantities are synthetic fixture outputs, not field measurements. All Ember &amp; Oak records and quantities are synthetic. Batchlight does not determine food safety or certify compliance.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evidence-repair demonstration. Save a PAP-2409 rehearsal before resolving the incomplete input in CHL-1909-X to a different supplier lot, PAP-2410. The earlier snapshot remains unchanged. The live investigation group then drops from 120 to 0 finished units, while the no-recorded-connection group grows from 240 to 360. No safety claim follows. The public GitHub Pages demo runs on the device. The full self-hosted application adds isolated accounts, transactional server validation, revision checks, idempotent commands, and queued offline synchronization. A stale pending rehearsal preserves its original device snapshot and pauses for reconciliation rather than silently recomputing. See repository tests. No claim that competitors lack equivalent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primary sources checked 22 September 2026: https://lotpath.tekinworks.com/ ; https://lotthread.com/pricing/ ; https://stocksmith.io/pricing/ ; https://fourfoxes.io/ . These sources describe vendor capabilities, not independent test results. We have not tested private competitor applications and do not claim they lack unlisted features. The differentiation and willingness to switch are hypotheses, not validated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money is in US dollars and is hypothetical. Proposed monthly revenue $29 less $3 allocated infrastructure/backups, assumed payment cost 3%+$0.30 ($1.17), and 10 minutes of support at $30/hour ($5) gives $19.83 before acquisition, engineering, tax, and overhead. With 30 minutes of support it falls to $9.83. Not a provider quote or forecast. No customers, revenue, payment integration, or validated willingness to pay. See docs/BUSINESS.md.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decision gates: three of five target makers complete a rehearsal with their own records, two accept a paid pilot, and no critical false exclusions emerge. These are planned thresholds, not results. A five-person study does not establish market demand. Before operational use, perform independent security review, hosted backup-restore verification, and qualified food-safety workflow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and product owner: Shivam Gupta. Built with substantial AI assistance for research, design, implementation, testing, and writing. Complete disclosure in docs/THIRD-PARTY.md. Demonstration data is synthetic. Batchlight supports traceability and rehearsal but does not detect contamination, determine food safety, or certify legal compliance.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a126b1ae1941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2354cb98334503" /><Relationship Type="http://schemas.openxmlformats.org/officeDocument/2006/relationships/slideLayout" Target="/ppt/slideLayouts/slideLayout1.xml" Id="R0be1e4bcd41f4b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e1e4bcd41f4b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63941c35314c91" /><Relationship Type="http://schemas.openxmlformats.org/officeDocument/2006/relationships/notesSlide" Target="/ppt/notesSlides/notesSlide1.xml" Id="Rc17d8fade3154c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d3a12604f84b94" /><Relationship Type="http://schemas.openxmlformats.org/officeDocument/2006/relationships/notesSlide" Target="/ppt/notesSlides/notesSlide2.xml" Id="R6ef2fbcadafd44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2dd477316a47e9" /><Relationship Type="http://schemas.openxmlformats.org/officeDocument/2006/relationships/image" Target="/ppt/media/image.png" Id="Redf3351587b44888" /><Relationship Type="http://schemas.openxmlformats.org/officeDocument/2006/relationships/notesSlide" Target="/ppt/notesSlides/notesSlide3.xml" Id="Rb83e1f15e7c544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0362536dff64613" /><Relationship Type="http://schemas.openxmlformats.org/officeDocument/2006/relationships/notesSlide" Target="/ppt/notesSlides/notesSlide4.xml" Id="Rc71c6c410a9149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4b6f87d26e45b4" /><Relationship Type="http://schemas.openxmlformats.org/officeDocument/2006/relationships/notesSlide" Target="/ppt/notesSlides/notesSlide5.xml" Id="Ra9e1447a0b6d41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699f6a413c4a4e" /><Relationship Type="http://schemas.openxmlformats.org/officeDocument/2006/relationships/notesSlide" Target="/ppt/notesSlides/notesSlide6.xml" Id="R4d52ff0b63624e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8c7455f67d4b4a" /><Relationship Type="http://schemas.openxmlformats.org/officeDocument/2006/relationships/notesSlide" Target="/ppt/notesSlides/notesSlide7.xml" Id="Re5adb2678aba4f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3281b83826a40d8" /><Relationship Type="http://schemas.openxmlformats.org/officeDocument/2006/relationships/notesSlide" Target="/ppt/notesSlides/notesSlide8.xml" Id="R743014c7221740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da9c37b1f94377" /><Relationship Type="http://schemas.openxmlformats.org/officeDocument/2006/relationships/notesSlide" Target="/ppt/notesSlides/notesSlide9.xml" Id="Rc71f6fec7a5e46cd" /></Relationships>
</file>

<file path=ppt/slides/slide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548FAD-7EA7-4FD1-A147-1DA944261314}"/>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2736B"/>
                </a:solidFill>
                <a:latin typeface="DM Sans"/>
                <a:ea typeface="DM Sans"/>
                <a:cs typeface="DM Sans"/>
              </a:defRPr>
            </a:pPr>
            <a:r>
              <a:rPr sz="1275" b="0">
                <a:solidFill>
                  <a:srgbClr val="62736B"/>
                </a:solidFill>
                <a:latin typeface="DM Sans"/>
                <a:ea typeface="DM Sans"/>
                <a:cs typeface="DM Sans"/>
              </a:rPr>
              <a:t>Batchlight</a:t>
            </a:r>
          </a:p>
        </p:txBody>
      </p:sp>
      <p:sp>
        <p:nvSpPr>
          <p:cNvPr id="2" name="">
            <a:extLst xmlns:a="http://schemas.openxmlformats.org/drawingml/2006/main">
              <a:ext uri="{FF2B5EF4-FFF2-40B4-BE49-F238E27FC236}">
                <a16:creationId xmlns:a16="http://schemas.microsoft.com/office/drawing/2014/main" id="{08ACD889-EDED-4F8F-A05F-48D866888569}"/>
              </a:ext>
            </a:extLst>
          </p:cNvPr>
          <p:cNvSpPr>
            <a:spLocks xmlns:a="http://schemas.openxmlformats.org/drawingml/2006/main" noGrp="1"/>
          </p:cNvSpPr>
          <p:nvPr/>
        </p:nvSpPr>
        <p:spPr>
          <a:xfrm xmlns:a="http://schemas.openxmlformats.org/drawingml/2006/main">
            <a:off x="11049000" y="63722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62736B"/>
                </a:solidFill>
                <a:latin typeface="DM Sans"/>
                <a:ea typeface="DM Sans"/>
                <a:cs typeface="DM Sans"/>
              </a:defRPr>
            </a:pPr>
            <a:r>
              <a:rPr sz="1275" b="0">
                <a:solidFill>
                  <a:srgbClr val="62736B"/>
                </a:solidFill>
                <a:latin typeface="DM Sans"/>
                <a:ea typeface="DM Sans"/>
                <a:cs typeface="DM Sans"/>
              </a:rPr>
              <a:t>01</a:t>
            </a:r>
          </a:p>
        </p:txBody>
      </p:sp>
      <p:sp>
        <p:nvSpPr>
          <p:cNvPr id="3" name="">
            <a:extLst xmlns:a="http://schemas.openxmlformats.org/drawingml/2006/main">
              <a:ext uri="{FF2B5EF4-FFF2-40B4-BE49-F238E27FC236}">
                <a16:creationId xmlns:a16="http://schemas.microsoft.com/office/drawing/2014/main" id="{573C6288-C59B-44BC-AAD4-930E44648794}"/>
              </a:ext>
            </a:extLst>
          </p:cNvPr>
          <p:cNvSpPr>
            <a:spLocks xmlns:a="http://schemas.openxmlformats.org/drawingml/2006/main" noGrp="1"/>
          </p:cNvSpPr>
          <p:nvPr/>
        </p:nvSpPr>
        <p:spPr>
          <a:xfrm xmlns:a="http://schemas.openxmlformats.org/drawingml/2006/main">
            <a:off x="609600" y="1000125"/>
            <a:ext cx="10858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400" b="0">
                <a:solidFill>
                  <a:srgbClr val="183E36"/>
                </a:solidFill>
                <a:latin typeface="Instrument Serif"/>
                <a:ea typeface="Instrument Serif"/>
                <a:cs typeface="Instrument Serif"/>
              </a:defRPr>
            </a:pPr>
            <a:r>
              <a:rPr sz="8400" b="0">
                <a:solidFill>
                  <a:srgbClr val="183E36"/>
                </a:solidFill>
                <a:latin typeface="Instrument Serif"/>
                <a:ea typeface="Instrument Serif"/>
                <a:cs typeface="Instrument Serif"/>
              </a:rPr>
              <a:t>Batchlight</a:t>
            </a:r>
          </a:p>
        </p:txBody>
      </p:sp>
      <p:sp>
        <p:nvSpPr>
          <p:cNvPr id="4" name="">
            <a:extLst xmlns:a="http://schemas.openxmlformats.org/drawingml/2006/main">
              <a:ext uri="{FF2B5EF4-FFF2-40B4-BE49-F238E27FC236}">
                <a16:creationId xmlns:a16="http://schemas.microsoft.com/office/drawing/2014/main" id="{39373614-1A6C-4DEA-B1DF-E31729729BE8}"/>
              </a:ext>
            </a:extLst>
          </p:cNvPr>
          <p:cNvSpPr>
            <a:spLocks xmlns:a="http://schemas.openxmlformats.org/drawingml/2006/main" noGrp="1"/>
          </p:cNvSpPr>
          <p:nvPr/>
        </p:nvSpPr>
        <p:spPr>
          <a:xfrm xmlns:a="http://schemas.openxmlformats.org/drawingml/2006/main">
            <a:off x="666750" y="2524125"/>
            <a:ext cx="1019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183E36"/>
                </a:solidFill>
                <a:latin typeface="DM Sans"/>
                <a:ea typeface="DM Sans"/>
                <a:cs typeface="DM Sans"/>
              </a:defRPr>
            </a:pPr>
            <a:r>
              <a:rPr sz="2850" b="0">
                <a:solidFill>
                  <a:srgbClr val="183E36"/>
                </a:solidFill>
                <a:latin typeface="DM Sans"/>
                <a:ea typeface="DM Sans"/>
                <a:cs typeface="DM Sans"/>
              </a:rPr>
              <a:t>Recall rehearsal for small food makers</a:t>
            </a:r>
          </a:p>
        </p:txBody>
      </p:sp>
      <p:sp>
        <p:nvSpPr>
          <p:cNvPr id="5" name="">
            <a:extLst xmlns:a="http://schemas.openxmlformats.org/drawingml/2006/main">
              <a:ext uri="{FF2B5EF4-FFF2-40B4-BE49-F238E27FC236}">
                <a16:creationId xmlns:a16="http://schemas.microsoft.com/office/drawing/2014/main" id="{2F9A0D1C-89ED-4C60-830A-EFE13B8F545A}"/>
              </a:ext>
            </a:extLst>
          </p:cNvPr>
          <p:cNvSpPr>
            <a:spLocks xmlns:a="http://schemas.openxmlformats.org/drawingml/2006/main" noGrp="1"/>
          </p:cNvSpPr>
          <p:nvPr/>
        </p:nvSpPr>
        <p:spPr>
          <a:xfrm xmlns:a="http://schemas.openxmlformats.org/drawingml/2006/main">
            <a:off x="666750" y="3571875"/>
            <a:ext cx="9620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0">
                <a:solidFill>
                  <a:srgbClr val="D45A38"/>
                </a:solidFill>
                <a:latin typeface="Instrument Serif"/>
                <a:ea typeface="Instrument Serif"/>
                <a:cs typeface="Instrument Serif"/>
              </a:defRPr>
            </a:pPr>
            <a:r>
              <a:rPr sz="3600" b="0">
                <a:solidFill>
                  <a:srgbClr val="D45A38"/>
                </a:solidFill>
                <a:latin typeface="Instrument Serif"/>
                <a:ea typeface="Instrument Serif"/>
                <a:cs typeface="Instrument Serif"/>
              </a:rPr>
              <a:t>See what your records prove,</a:t>
            </a:r>
          </a:p>
          <a:p xmlns:a="http://schemas.openxmlformats.org/drawingml/2006/main">
            <a:pPr algn="l">
              <a:defRPr sz="3600" b="0">
                <a:solidFill>
                  <a:srgbClr val="D45A38"/>
                </a:solidFill>
                <a:latin typeface="Instrument Serif"/>
                <a:ea typeface="Instrument Serif"/>
                <a:cs typeface="Instrument Serif"/>
              </a:defRPr>
            </a:pPr>
            <a:r>
              <a:rPr sz="3600" b="0">
                <a:solidFill>
                  <a:srgbClr val="D45A38"/>
                </a:solidFill>
                <a:latin typeface="Instrument Serif"/>
                <a:ea typeface="Instrument Serif"/>
                <a:cs typeface="Instrument Serif"/>
              </a:rPr>
              <a:t>and what they don’t.</a:t>
            </a:r>
          </a:p>
        </p:txBody>
      </p:sp>
      <p:sp>
        <p:nvSpPr>
          <p:cNvPr id="6" name="">
            <a:extLst xmlns:a="http://schemas.openxmlformats.org/drawingml/2006/main">
              <a:ext uri="{FF2B5EF4-FFF2-40B4-BE49-F238E27FC236}">
                <a16:creationId xmlns:a16="http://schemas.microsoft.com/office/drawing/2014/main" id="{3EFD0DE1-7920-45D8-92EA-685E13D063D2}"/>
              </a:ext>
            </a:extLst>
          </p:cNvPr>
          <p:cNvSpPr>
            <a:spLocks xmlns:a="http://schemas.openxmlformats.org/drawingml/2006/main" noGrp="1"/>
          </p:cNvSpPr>
          <p:nvPr/>
        </p:nvSpPr>
        <p:spPr>
          <a:xfrm xmlns:a="http://schemas.openxmlformats.org/drawingml/2006/main">
            <a:off x="666750" y="5895975"/>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83E36"/>
                </a:solidFill>
                <a:latin typeface="DM Sans"/>
                <a:ea typeface="DM Sans"/>
                <a:cs typeface="DM Sans"/>
              </a:defRPr>
            </a:pPr>
            <a:r>
              <a:rPr sz="1575" b="0">
                <a:solidFill>
                  <a:srgbClr val="183E36"/>
                </a:solidFill>
                <a:latin typeface="DM Sans"/>
                <a:ea typeface="DM Sans"/>
                <a:cs typeface="DM Sans"/>
              </a:rPr>
              <a:t>Shivam Gupta  /  HACK47: OFFGRID 2026</a:t>
            </a:r>
          </a:p>
        </p:txBody>
      </p:sp>
    </p:spTree>
    <p:extLst>
      <p:ext uri="{BB962C8B-B14F-4D97-AF65-F5344CB8AC3E}">
        <p14:creationId xmlns:p14="http://schemas.microsoft.com/office/powerpoint/2010/main" val="1897998182"/>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ACE8D8-07F8-4379-8300-B30DC7DE1D32}"/>
              </a:ext>
            </a:extLst>
          </p:cNvPr>
          <p:cNvSpPr>
            <a:spLocks xmlns:a="http://schemas.openxmlformats.org/drawingml/2006/main" noGrp="1"/>
          </p:cNvSpPr>
          <p:nvPr/>
        </p:nvSpPr>
        <p:spPr>
          <a:xfrm xmlns:a="http://schemas.openxmlformats.org/drawingml/2006/main">
            <a:off x="609600" y="4953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0">
                <a:solidFill>
                  <a:srgbClr val="183E36"/>
                </a:solidFill>
                <a:latin typeface="Instrument Serif"/>
                <a:ea typeface="Instrument Serif"/>
                <a:cs typeface="Instrument Serif"/>
              </a:defRPr>
            </a:pPr>
            <a:r>
              <a:rPr sz="3900" b="0">
                <a:solidFill>
                  <a:srgbClr val="183E36"/>
                </a:solidFill>
                <a:latin typeface="Instrument Serif"/>
                <a:ea typeface="Instrument Serif"/>
                <a:cs typeface="Instrument Serif"/>
              </a:rPr>
              <a:t>The supplier message</a:t>
            </a:r>
          </a:p>
        </p:txBody>
      </p:sp>
      <p:sp>
        <p:nvSpPr>
          <p:cNvPr id="2" name="">
            <a:extLst xmlns:a="http://schemas.openxmlformats.org/drawingml/2006/main">
              <a:ext uri="{FF2B5EF4-FFF2-40B4-BE49-F238E27FC236}">
                <a16:creationId xmlns:a16="http://schemas.microsoft.com/office/drawing/2014/main" id="{2D19AD29-B00F-4C73-A82D-632C93789F2F}"/>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2736B"/>
                </a:solidFill>
                <a:latin typeface="DM Sans"/>
                <a:ea typeface="DM Sans"/>
                <a:cs typeface="DM Sans"/>
              </a:defRPr>
            </a:pPr>
            <a:r>
              <a:rPr sz="1275" b="0">
                <a:solidFill>
                  <a:srgbClr val="62736B"/>
                </a:solidFill>
                <a:latin typeface="DM Sans"/>
                <a:ea typeface="DM Sans"/>
                <a:cs typeface="DM Sans"/>
              </a:rPr>
              <a:t>Batchlight</a:t>
            </a:r>
          </a:p>
        </p:txBody>
      </p:sp>
      <p:sp>
        <p:nvSpPr>
          <p:cNvPr id="3" name="">
            <a:extLst xmlns:a="http://schemas.openxmlformats.org/drawingml/2006/main">
              <a:ext uri="{FF2B5EF4-FFF2-40B4-BE49-F238E27FC236}">
                <a16:creationId xmlns:a16="http://schemas.microsoft.com/office/drawing/2014/main" id="{C528ABFD-E3C5-4B01-B8E2-0337B5999FD4}"/>
              </a:ext>
            </a:extLst>
          </p:cNvPr>
          <p:cNvSpPr>
            <a:spLocks xmlns:a="http://schemas.openxmlformats.org/drawingml/2006/main" noGrp="1"/>
          </p:cNvSpPr>
          <p:nvPr/>
        </p:nvSpPr>
        <p:spPr>
          <a:xfrm xmlns:a="http://schemas.openxmlformats.org/drawingml/2006/main">
            <a:off x="11049000" y="63722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62736B"/>
                </a:solidFill>
                <a:latin typeface="DM Sans"/>
                <a:ea typeface="DM Sans"/>
                <a:cs typeface="DM Sans"/>
              </a:defRPr>
            </a:pPr>
            <a:r>
              <a:rPr sz="1275" b="0">
                <a:solidFill>
                  <a:srgbClr val="62736B"/>
                </a:solidFill>
                <a:latin typeface="DM Sans"/>
                <a:ea typeface="DM Sans"/>
                <a:cs typeface="DM Sans"/>
              </a:rPr>
              <a:t>02</a:t>
            </a:r>
          </a:p>
        </p:txBody>
      </p:sp>
      <p:sp>
        <p:nvSpPr>
          <p:cNvPr id="4" name="">
            <a:extLst xmlns:a="http://schemas.openxmlformats.org/drawingml/2006/main">
              <a:ext uri="{FF2B5EF4-FFF2-40B4-BE49-F238E27FC236}">
                <a16:creationId xmlns:a16="http://schemas.microsoft.com/office/drawing/2014/main" id="{1107BEC5-8B01-4EBF-86AE-05E8FE677AC5}"/>
              </a:ext>
            </a:extLst>
          </p:cNvPr>
          <p:cNvSpPr>
            <a:spLocks xmlns:a="http://schemas.openxmlformats.org/drawingml/2006/main" noGrp="1"/>
          </p:cNvSpPr>
          <p:nvPr/>
        </p:nvSpPr>
        <p:spPr>
          <a:xfrm xmlns:a="http://schemas.openxmlformats.org/drawingml/2006/main">
            <a:off x="609600" y="161925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950" b="0">
                <a:solidFill>
                  <a:srgbClr val="D45A38"/>
                </a:solidFill>
                <a:latin typeface="Instrument Serif"/>
                <a:ea typeface="Instrument Serif"/>
                <a:cs typeface="Instrument Serif"/>
              </a:defRPr>
            </a:pPr>
            <a:r>
              <a:rPr sz="4950" b="0">
                <a:solidFill>
                  <a:srgbClr val="D45A38"/>
                </a:solidFill>
                <a:latin typeface="Instrument Serif"/>
                <a:ea typeface="Instrument Serif"/>
                <a:cs typeface="Instrument Serif"/>
              </a:rPr>
              <a:t>“Please investigate paprika lot PAP-2409.”</a:t>
            </a:r>
          </a:p>
        </p:txBody>
      </p:sp>
      <p:sp>
        <p:nvSpPr>
          <p:cNvPr id="5" name="">
            <a:extLst xmlns:a="http://schemas.openxmlformats.org/drawingml/2006/main">
              <a:ext uri="{FF2B5EF4-FFF2-40B4-BE49-F238E27FC236}">
                <a16:creationId xmlns:a16="http://schemas.microsoft.com/office/drawing/2014/main" id="{35CFF7F7-23DA-4FFD-884D-E0F25F1431EA}"/>
              </a:ext>
            </a:extLst>
          </p:cNvPr>
          <p:cNvSpPr>
            <a:spLocks xmlns:a="http://schemas.openxmlformats.org/drawingml/2006/main" noGrp="1"/>
          </p:cNvSpPr>
          <p:nvPr/>
        </p:nvSpPr>
        <p:spPr>
          <a:xfrm xmlns:a="http://schemas.openxmlformats.org/drawingml/2006/main">
            <a:off x="647700" y="3171825"/>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183E36"/>
                </a:solidFill>
                <a:latin typeface="DM Sans"/>
                <a:ea typeface="DM Sans"/>
                <a:cs typeface="DM Sans"/>
              </a:defRPr>
            </a:pPr>
            <a:r>
              <a:rPr sz="2625" b="0">
                <a:solidFill>
                  <a:srgbClr val="183E36"/>
                </a:solidFill>
                <a:latin typeface="DM Sans"/>
                <a:ea typeface="DM Sans"/>
                <a:cs typeface="DM Sans"/>
              </a:rPr>
              <a:t>The maker has already cooked a base sauce,</a:t>
            </a:r>
          </a:p>
          <a:p xmlns:a="http://schemas.openxmlformats.org/drawingml/2006/main">
            <a:pPr algn="l">
              <a:defRPr sz="2625" b="0">
                <a:solidFill>
                  <a:srgbClr val="183E36"/>
                </a:solidFill>
                <a:latin typeface="DM Sans"/>
                <a:ea typeface="DM Sans"/>
                <a:cs typeface="DM Sans"/>
              </a:defRPr>
            </a:pPr>
            <a:r>
              <a:rPr sz="2625" b="0">
                <a:solidFill>
                  <a:srgbClr val="183E36"/>
                </a:solidFill>
                <a:latin typeface="DM Sans"/>
                <a:ea typeface="DM Sans"/>
                <a:cs typeface="DM Sans"/>
              </a:rPr>
              <a:t>filled several runs, and shipped some jars.</a:t>
            </a:r>
          </a:p>
        </p:txBody>
      </p:sp>
      <p:sp>
        <p:nvSpPr>
          <p:cNvPr id="6" name="">
            <a:extLst xmlns:a="http://schemas.openxmlformats.org/drawingml/2006/main">
              <a:ext uri="{FF2B5EF4-FFF2-40B4-BE49-F238E27FC236}">
                <a16:creationId xmlns:a16="http://schemas.microsoft.com/office/drawing/2014/main" id="{4441F94B-7371-412B-9EB7-87B28C16B0AA}"/>
              </a:ext>
            </a:extLst>
          </p:cNvPr>
          <p:cNvSpPr>
            <a:spLocks xmlns:a="http://schemas.openxmlformats.org/drawingml/2006/main" noGrp="1"/>
          </p:cNvSpPr>
          <p:nvPr/>
        </p:nvSpPr>
        <p:spPr>
          <a:xfrm xmlns:a="http://schemas.openxmlformats.org/drawingml/2006/main">
            <a:off x="647700" y="4591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183E36"/>
                </a:solidFill>
                <a:latin typeface="DM Sans"/>
                <a:ea typeface="DM Sans"/>
                <a:cs typeface="DM Sans"/>
              </a:defRPr>
            </a:pPr>
            <a:r>
              <a:rPr sz="2625" b="1">
                <a:solidFill>
                  <a:srgbClr val="183E36"/>
                </a:solidFill>
                <a:latin typeface="DM Sans"/>
                <a:ea typeface="DM Sans"/>
                <a:cs typeface="DM Sans"/>
              </a:rPr>
              <a:t>One production sheet has a missing spice entry.</a:t>
            </a:r>
          </a:p>
        </p:txBody>
      </p:sp>
      <p:sp>
        <p:nvSpPr>
          <p:cNvPr id="7" name="">
            <a:extLst xmlns:a="http://schemas.openxmlformats.org/drawingml/2006/main">
              <a:ext uri="{FF2B5EF4-FFF2-40B4-BE49-F238E27FC236}">
                <a16:creationId xmlns:a16="http://schemas.microsoft.com/office/drawing/2014/main" id="{B484B553-C64A-45FF-B8AF-291883583CBD}"/>
              </a:ext>
            </a:extLst>
          </p:cNvPr>
          <p:cNvSpPr>
            <a:spLocks xmlns:a="http://schemas.openxmlformats.org/drawingml/2006/main" noGrp="1"/>
          </p:cNvSpPr>
          <p:nvPr/>
        </p:nvSpPr>
        <p:spPr>
          <a:xfrm xmlns:a="http://schemas.openxmlformats.org/drawingml/2006/main">
            <a:off x="647700" y="555307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736B"/>
                </a:solidFill>
                <a:latin typeface="DM Sans"/>
                <a:ea typeface="DM Sans"/>
                <a:cs typeface="DM Sans"/>
              </a:defRPr>
            </a:pPr>
            <a:r>
              <a:rPr sz="1725" b="0">
                <a:solidFill>
                  <a:srgbClr val="62736B"/>
                </a:solidFill>
                <a:latin typeface="DM Sans"/>
                <a:ea typeface="DM Sans"/>
                <a:cs typeface="DM Sans"/>
              </a:rPr>
              <a:t>Synthetic scenario. The uncertainty is the point of the rehearsal.</a:t>
            </a:r>
          </a:p>
        </p:txBody>
      </p:sp>
    </p:spTree>
    <p:extLst>
      <p:ext uri="{BB962C8B-B14F-4D97-AF65-F5344CB8AC3E}">
        <p14:creationId xmlns:p14="http://schemas.microsoft.com/office/powerpoint/2010/main" val="1142564819"/>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71BAC4-D45D-4C87-9C17-68315A676F66}"/>
              </a:ext>
            </a:extLst>
          </p:cNvPr>
          <p:cNvSpPr>
            <a:spLocks xmlns:a="http://schemas.openxmlformats.org/drawingml/2006/main" noGrp="1"/>
          </p:cNvSpPr>
          <p:nvPr/>
        </p:nvSpPr>
        <p:spPr>
          <a:xfrm xmlns:a="http://schemas.openxmlformats.org/drawingml/2006/main">
            <a:off x="609600" y="4953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0">
                <a:solidFill>
                  <a:srgbClr val="183E36"/>
                </a:solidFill>
                <a:latin typeface="Instrument Serif"/>
                <a:ea typeface="Instrument Serif"/>
                <a:cs typeface="Instrument Serif"/>
              </a:defRPr>
            </a:pPr>
            <a:r>
              <a:rPr sz="3900" b="0">
                <a:solidFill>
                  <a:srgbClr val="183E36"/>
                </a:solidFill>
                <a:latin typeface="Instrument Serif"/>
                <a:ea typeface="Instrument Serif"/>
                <a:cs typeface="Instrument Serif"/>
              </a:rPr>
              <a:t>A trace you can inspect</a:t>
            </a:r>
          </a:p>
        </p:txBody>
      </p:sp>
      <p:sp>
        <p:nvSpPr>
          <p:cNvPr id="2" name="">
            <a:extLst xmlns:a="http://schemas.openxmlformats.org/drawingml/2006/main">
              <a:ext uri="{FF2B5EF4-FFF2-40B4-BE49-F238E27FC236}">
                <a16:creationId xmlns:a16="http://schemas.microsoft.com/office/drawing/2014/main" id="{33A16017-1CF5-465F-810C-7B1C180CC5CF}"/>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2736B"/>
                </a:solidFill>
                <a:latin typeface="DM Sans"/>
                <a:ea typeface="DM Sans"/>
                <a:cs typeface="DM Sans"/>
              </a:defRPr>
            </a:pPr>
            <a:r>
              <a:rPr sz="1275" b="0">
                <a:solidFill>
                  <a:srgbClr val="62736B"/>
                </a:solidFill>
                <a:latin typeface="DM Sans"/>
                <a:ea typeface="DM Sans"/>
                <a:cs typeface="DM Sans"/>
              </a:rPr>
              <a:t>Batchlight</a:t>
            </a:r>
          </a:p>
        </p:txBody>
      </p:sp>
      <p:sp>
        <p:nvSpPr>
          <p:cNvPr id="3" name="">
            <a:extLst xmlns:a="http://schemas.openxmlformats.org/drawingml/2006/main">
              <a:ext uri="{FF2B5EF4-FFF2-40B4-BE49-F238E27FC236}">
                <a16:creationId xmlns:a16="http://schemas.microsoft.com/office/drawing/2014/main" id="{25654AEE-9532-4275-8946-66D1174C7574}"/>
              </a:ext>
            </a:extLst>
          </p:cNvPr>
          <p:cNvSpPr>
            <a:spLocks xmlns:a="http://schemas.openxmlformats.org/drawingml/2006/main" noGrp="1"/>
          </p:cNvSpPr>
          <p:nvPr/>
        </p:nvSpPr>
        <p:spPr>
          <a:xfrm xmlns:a="http://schemas.openxmlformats.org/drawingml/2006/main">
            <a:off x="11049000" y="63722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62736B"/>
                </a:solidFill>
                <a:latin typeface="DM Sans"/>
                <a:ea typeface="DM Sans"/>
                <a:cs typeface="DM Sans"/>
              </a:defRPr>
            </a:pPr>
            <a:r>
              <a:rPr sz="1275" b="0">
                <a:solidFill>
                  <a:srgbClr val="62736B"/>
                </a:solidFill>
                <a:latin typeface="DM Sans"/>
                <a:ea typeface="DM Sans"/>
                <a:cs typeface="DM Sans"/>
              </a:rPr>
              <a:t>03</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df3351587b44888"/>
          <a:stretch xmlns:a="http://schemas.openxmlformats.org/drawingml/2006/main"/>
        </p:blipFill>
        <p:spPr>
          <a:xfrm xmlns:a="http://schemas.openxmlformats.org/drawingml/2006/main">
            <a:off x="1324799" y="1428750"/>
            <a:ext cx="9542401" cy="4314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5644A6D-11B8-463F-84B2-047FFA2739C6}"/>
              </a:ext>
            </a:extLst>
          </p:cNvPr>
          <p:cNvSpPr>
            <a:spLocks xmlns:a="http://schemas.openxmlformats.org/drawingml/2006/main" noGrp="1"/>
          </p:cNvSpPr>
          <p:nvPr/>
        </p:nvSpPr>
        <p:spPr>
          <a:xfrm xmlns:a="http://schemas.openxmlformats.org/drawingml/2006/main">
            <a:off x="647700" y="590550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2736B"/>
                </a:solidFill>
                <a:latin typeface="DM Sans"/>
                <a:ea typeface="DM Sans"/>
                <a:cs typeface="DM Sans"/>
              </a:defRPr>
            </a:pPr>
            <a:r>
              <a:rPr sz="1575" b="0">
                <a:solidFill>
                  <a:srgbClr val="62736B"/>
                </a:solidFill>
                <a:latin typeface="DM Sans"/>
                <a:ea typeface="DM Sans"/>
                <a:cs typeface="DM Sans"/>
              </a:rPr>
              <a:t>Synthetic records. Source references remain available throughout the trace.</a:t>
            </a:r>
          </a:p>
        </p:txBody>
      </p:sp>
    </p:spTree>
    <p:extLst>
      <p:ext uri="{BB962C8B-B14F-4D97-AF65-F5344CB8AC3E}">
        <p14:creationId xmlns:p14="http://schemas.microsoft.com/office/powerpoint/2010/main" val="660725028"/>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A61D302-387D-4C64-8C0A-D06AE5D534AE}"/>
              </a:ext>
            </a:extLst>
          </p:cNvPr>
          <p:cNvSpPr>
            <a:spLocks xmlns:a="http://schemas.openxmlformats.org/drawingml/2006/main" noGrp="1"/>
          </p:cNvSpPr>
          <p:nvPr/>
        </p:nvSpPr>
        <p:spPr>
          <a:xfrm xmlns:a="http://schemas.openxmlformats.org/drawingml/2006/main">
            <a:off x="609600" y="4953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0">
                <a:solidFill>
                  <a:srgbClr val="183E36"/>
                </a:solidFill>
                <a:latin typeface="Instrument Serif"/>
                <a:ea typeface="Instrument Serif"/>
                <a:cs typeface="Instrument Serif"/>
              </a:defRPr>
            </a:pPr>
            <a:r>
              <a:rPr sz="3900" b="0">
                <a:solidFill>
                  <a:srgbClr val="183E36"/>
                </a:solidFill>
                <a:latin typeface="Instrument Serif"/>
                <a:ea typeface="Instrument Serif"/>
                <a:cs typeface="Instrument Serif"/>
              </a:rPr>
              <a:t>Three answers, with honest limits</a:t>
            </a:r>
          </a:p>
        </p:txBody>
      </p:sp>
      <p:sp>
        <p:nvSpPr>
          <p:cNvPr id="2" name="">
            <a:extLst xmlns:a="http://schemas.openxmlformats.org/drawingml/2006/main">
              <a:ext uri="{FF2B5EF4-FFF2-40B4-BE49-F238E27FC236}">
                <a16:creationId xmlns:a16="http://schemas.microsoft.com/office/drawing/2014/main" id="{7128B8D7-62F6-4B26-A700-1AD700EC01F0}"/>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2736B"/>
                </a:solidFill>
                <a:latin typeface="DM Sans"/>
                <a:ea typeface="DM Sans"/>
                <a:cs typeface="DM Sans"/>
              </a:defRPr>
            </a:pPr>
            <a:r>
              <a:rPr sz="1275" b="0">
                <a:solidFill>
                  <a:srgbClr val="62736B"/>
                </a:solidFill>
                <a:latin typeface="DM Sans"/>
                <a:ea typeface="DM Sans"/>
                <a:cs typeface="DM Sans"/>
              </a:rPr>
              <a:t>Batchlight</a:t>
            </a:r>
          </a:p>
        </p:txBody>
      </p:sp>
      <p:sp>
        <p:nvSpPr>
          <p:cNvPr id="3" name="">
            <a:extLst xmlns:a="http://schemas.openxmlformats.org/drawingml/2006/main">
              <a:ext uri="{FF2B5EF4-FFF2-40B4-BE49-F238E27FC236}">
                <a16:creationId xmlns:a16="http://schemas.microsoft.com/office/drawing/2014/main" id="{65F7C83E-DCAE-4E01-A3C5-A599AE8F9BBA}"/>
              </a:ext>
            </a:extLst>
          </p:cNvPr>
          <p:cNvSpPr>
            <a:spLocks xmlns:a="http://schemas.openxmlformats.org/drawingml/2006/main" noGrp="1"/>
          </p:cNvSpPr>
          <p:nvPr/>
        </p:nvSpPr>
        <p:spPr>
          <a:xfrm xmlns:a="http://schemas.openxmlformats.org/drawingml/2006/main">
            <a:off x="11049000" y="63722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62736B"/>
                </a:solidFill>
                <a:latin typeface="DM Sans"/>
                <a:ea typeface="DM Sans"/>
                <a:cs typeface="DM Sans"/>
              </a:defRPr>
            </a:pPr>
            <a:r>
              <a:rPr sz="1275" b="0">
                <a:solidFill>
                  <a:srgbClr val="62736B"/>
                </a:solidFill>
                <a:latin typeface="DM Sans"/>
                <a:ea typeface="DM Sans"/>
                <a:cs typeface="DM Sans"/>
              </a:rPr>
              <a:t>04</a:t>
            </a:r>
          </a:p>
        </p:txBody>
      </p:sp>
      <p:sp>
        <p:nvSpPr>
          <p:cNvPr id="4" name="">
            <a:extLst xmlns:a="http://schemas.openxmlformats.org/drawingml/2006/main">
              <a:ext uri="{FF2B5EF4-FFF2-40B4-BE49-F238E27FC236}">
                <a16:creationId xmlns:a16="http://schemas.microsoft.com/office/drawing/2014/main" id="{E893927C-5E85-4C09-9EA0-4605B9335628}"/>
              </a:ext>
            </a:extLst>
          </p:cNvPr>
          <p:cNvSpPr>
            <a:spLocks xmlns:a="http://schemas.openxmlformats.org/drawingml/2006/main" noGrp="1"/>
          </p:cNvSpPr>
          <p:nvPr/>
        </p:nvSpPr>
        <p:spPr>
          <a:xfrm xmlns:a="http://schemas.openxmlformats.org/drawingml/2006/main">
            <a:off x="638175" y="169545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0">
                <a:solidFill>
                  <a:srgbClr val="D45A38"/>
                </a:solidFill>
                <a:latin typeface="Instrument Serif"/>
                <a:ea typeface="Instrument Serif"/>
                <a:cs typeface="Instrument Serif"/>
              </a:defRPr>
            </a:pPr>
            <a:r>
              <a:rPr sz="6150" b="0">
                <a:solidFill>
                  <a:srgbClr val="D45A38"/>
                </a:solidFill>
                <a:latin typeface="Instrument Serif"/>
                <a:ea typeface="Instrument Serif"/>
                <a:cs typeface="Instrument Serif"/>
              </a:rPr>
              <a:t>480</a:t>
            </a:r>
          </a:p>
        </p:txBody>
      </p:sp>
      <p:sp>
        <p:nvSpPr>
          <p:cNvPr id="5" name="">
            <a:extLst xmlns:a="http://schemas.openxmlformats.org/drawingml/2006/main">
              <a:ext uri="{FF2B5EF4-FFF2-40B4-BE49-F238E27FC236}">
                <a16:creationId xmlns:a16="http://schemas.microsoft.com/office/drawing/2014/main" id="{92B0C32A-4C5B-4518-95D5-1EB9EF88AB24}"/>
              </a:ext>
            </a:extLst>
          </p:cNvPr>
          <p:cNvSpPr>
            <a:spLocks xmlns:a="http://schemas.openxmlformats.org/drawingml/2006/main" noGrp="1"/>
          </p:cNvSpPr>
          <p:nvPr/>
        </p:nvSpPr>
        <p:spPr>
          <a:xfrm xmlns:a="http://schemas.openxmlformats.org/drawingml/2006/main">
            <a:off x="3438525" y="1762125"/>
            <a:ext cx="7715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83E36"/>
                </a:solidFill>
                <a:latin typeface="DM Sans"/>
                <a:ea typeface="DM Sans"/>
                <a:cs typeface="DM Sans"/>
              </a:defRPr>
            </a:pPr>
            <a:r>
              <a:rPr sz="2550" b="1">
                <a:solidFill>
                  <a:srgbClr val="183E36"/>
                </a:solidFill>
                <a:latin typeface="DM Sans"/>
                <a:ea typeface="DM Sans"/>
                <a:cs typeface="DM Sans"/>
              </a:rPr>
              <a:t>Recorded connection</a:t>
            </a:r>
          </a:p>
        </p:txBody>
      </p:sp>
      <p:sp>
        <p:nvSpPr>
          <p:cNvPr id="6" name="">
            <a:extLst xmlns:a="http://schemas.openxmlformats.org/drawingml/2006/main">
              <a:ext uri="{FF2B5EF4-FFF2-40B4-BE49-F238E27FC236}">
                <a16:creationId xmlns:a16="http://schemas.microsoft.com/office/drawing/2014/main" id="{65B7D857-28CB-4044-A4FB-CD259E9EDA14}"/>
              </a:ext>
            </a:extLst>
          </p:cNvPr>
          <p:cNvSpPr>
            <a:spLocks xmlns:a="http://schemas.openxmlformats.org/drawingml/2006/main" noGrp="1"/>
          </p:cNvSpPr>
          <p:nvPr/>
        </p:nvSpPr>
        <p:spPr>
          <a:xfrm xmlns:a="http://schemas.openxmlformats.org/drawingml/2006/main">
            <a:off x="3457575" y="2295525"/>
            <a:ext cx="771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736B"/>
                </a:solidFill>
                <a:latin typeface="DM Sans"/>
                <a:ea typeface="DM Sans"/>
                <a:cs typeface="DM Sans"/>
              </a:defRPr>
            </a:pPr>
            <a:r>
              <a:rPr sz="1875" b="0">
                <a:solidFill>
                  <a:srgbClr val="62736B"/>
                </a:solidFill>
                <a:latin typeface="DM Sans"/>
                <a:ea typeface="DM Sans"/>
                <a:cs typeface="DM Sans"/>
              </a:rPr>
              <a:t>The records contain a path from this lot.</a:t>
            </a:r>
          </a:p>
        </p:txBody>
      </p:sp>
      <p:sp>
        <p:nvSpPr>
          <p:cNvPr id="7" name="">
            <a:extLst xmlns:a="http://schemas.openxmlformats.org/drawingml/2006/main">
              <a:ext uri="{FF2B5EF4-FFF2-40B4-BE49-F238E27FC236}">
                <a16:creationId xmlns:a16="http://schemas.microsoft.com/office/drawing/2014/main" id="{788F60C1-6811-4B47-B4FD-F4C8AA35B6D7}"/>
              </a:ext>
            </a:extLst>
          </p:cNvPr>
          <p:cNvSpPr>
            <a:spLocks xmlns:a="http://schemas.openxmlformats.org/drawingml/2006/main" noGrp="1"/>
          </p:cNvSpPr>
          <p:nvPr/>
        </p:nvSpPr>
        <p:spPr>
          <a:xfrm xmlns:a="http://schemas.openxmlformats.org/drawingml/2006/main">
            <a:off x="638175" y="30194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0">
                <a:solidFill>
                  <a:srgbClr val="183E36"/>
                </a:solidFill>
                <a:latin typeface="Instrument Serif"/>
                <a:ea typeface="Instrument Serif"/>
                <a:cs typeface="Instrument Serif"/>
              </a:defRPr>
            </a:pPr>
            <a:r>
              <a:rPr sz="6150" b="0">
                <a:solidFill>
                  <a:srgbClr val="183E36"/>
                </a:solidFill>
                <a:latin typeface="Instrument Serif"/>
                <a:ea typeface="Instrument Serif"/>
                <a:cs typeface="Instrument Serif"/>
              </a:rPr>
              <a:t>120</a:t>
            </a:r>
          </a:p>
        </p:txBody>
      </p:sp>
      <p:sp>
        <p:nvSpPr>
          <p:cNvPr id="8" name="">
            <a:extLst xmlns:a="http://schemas.openxmlformats.org/drawingml/2006/main">
              <a:ext uri="{FF2B5EF4-FFF2-40B4-BE49-F238E27FC236}">
                <a16:creationId xmlns:a16="http://schemas.microsoft.com/office/drawing/2014/main" id="{6B4492DE-0DEC-489E-B145-BC4F7FA103B0}"/>
              </a:ext>
            </a:extLst>
          </p:cNvPr>
          <p:cNvSpPr>
            <a:spLocks xmlns:a="http://schemas.openxmlformats.org/drawingml/2006/main" noGrp="1"/>
          </p:cNvSpPr>
          <p:nvPr/>
        </p:nvSpPr>
        <p:spPr>
          <a:xfrm xmlns:a="http://schemas.openxmlformats.org/drawingml/2006/main">
            <a:off x="3438525" y="3086100"/>
            <a:ext cx="7715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83E36"/>
                </a:solidFill>
                <a:latin typeface="DM Sans"/>
                <a:ea typeface="DM Sans"/>
                <a:cs typeface="DM Sans"/>
              </a:defRPr>
            </a:pPr>
            <a:r>
              <a:rPr sz="2550" b="1">
                <a:solidFill>
                  <a:srgbClr val="183E36"/>
                </a:solidFill>
                <a:latin typeface="DM Sans"/>
                <a:ea typeface="DM Sans"/>
                <a:cs typeface="DM Sans"/>
              </a:rPr>
              <a:t>Needs investigation</a:t>
            </a:r>
          </a:p>
        </p:txBody>
      </p:sp>
      <p:sp>
        <p:nvSpPr>
          <p:cNvPr id="9" name="">
            <a:extLst xmlns:a="http://schemas.openxmlformats.org/drawingml/2006/main">
              <a:ext uri="{FF2B5EF4-FFF2-40B4-BE49-F238E27FC236}">
                <a16:creationId xmlns:a16="http://schemas.microsoft.com/office/drawing/2014/main" id="{2F0B7A1A-ED9D-43D8-B817-E6BE2DD2C1DF}"/>
              </a:ext>
            </a:extLst>
          </p:cNvPr>
          <p:cNvSpPr>
            <a:spLocks xmlns:a="http://schemas.openxmlformats.org/drawingml/2006/main" noGrp="1"/>
          </p:cNvSpPr>
          <p:nvPr/>
        </p:nvSpPr>
        <p:spPr>
          <a:xfrm xmlns:a="http://schemas.openxmlformats.org/drawingml/2006/main">
            <a:off x="3457575" y="3619500"/>
            <a:ext cx="771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736B"/>
                </a:solidFill>
                <a:latin typeface="DM Sans"/>
                <a:ea typeface="DM Sans"/>
                <a:cs typeface="DM Sans"/>
              </a:defRPr>
            </a:pPr>
            <a:r>
              <a:rPr sz="1875" b="0">
                <a:solidFill>
                  <a:srgbClr val="62736B"/>
                </a:solidFill>
                <a:latin typeface="DM Sans"/>
                <a:ea typeface="DM Sans"/>
                <a:cs typeface="DM Sans"/>
              </a:rPr>
              <a:t>A missing input leaves a possible connection unresolved.</a:t>
            </a:r>
          </a:p>
        </p:txBody>
      </p:sp>
      <p:sp>
        <p:nvSpPr>
          <p:cNvPr id="10" name="">
            <a:extLst xmlns:a="http://schemas.openxmlformats.org/drawingml/2006/main">
              <a:ext uri="{FF2B5EF4-FFF2-40B4-BE49-F238E27FC236}">
                <a16:creationId xmlns:a16="http://schemas.microsoft.com/office/drawing/2014/main" id="{9BC30E59-AD6E-4AF1-BE93-3B154176DACB}"/>
              </a:ext>
            </a:extLst>
          </p:cNvPr>
          <p:cNvSpPr>
            <a:spLocks xmlns:a="http://schemas.openxmlformats.org/drawingml/2006/main" noGrp="1"/>
          </p:cNvSpPr>
          <p:nvPr/>
        </p:nvSpPr>
        <p:spPr>
          <a:xfrm xmlns:a="http://schemas.openxmlformats.org/drawingml/2006/main">
            <a:off x="638175" y="43434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0">
                <a:solidFill>
                  <a:srgbClr val="62736B"/>
                </a:solidFill>
                <a:latin typeface="Instrument Serif"/>
                <a:ea typeface="Instrument Serif"/>
                <a:cs typeface="Instrument Serif"/>
              </a:defRPr>
            </a:pPr>
            <a:r>
              <a:rPr sz="6150" b="0">
                <a:solidFill>
                  <a:srgbClr val="62736B"/>
                </a:solidFill>
                <a:latin typeface="Instrument Serif"/>
                <a:ea typeface="Instrument Serif"/>
                <a:cs typeface="Instrument Serif"/>
              </a:rPr>
              <a:t>240</a:t>
            </a:r>
          </a:p>
        </p:txBody>
      </p:sp>
      <p:sp>
        <p:nvSpPr>
          <p:cNvPr id="11" name="">
            <a:extLst xmlns:a="http://schemas.openxmlformats.org/drawingml/2006/main">
              <a:ext uri="{FF2B5EF4-FFF2-40B4-BE49-F238E27FC236}">
                <a16:creationId xmlns:a16="http://schemas.microsoft.com/office/drawing/2014/main" id="{6B52294B-77C1-4345-80A2-B09F57065181}"/>
              </a:ext>
            </a:extLst>
          </p:cNvPr>
          <p:cNvSpPr>
            <a:spLocks xmlns:a="http://schemas.openxmlformats.org/drawingml/2006/main" noGrp="1"/>
          </p:cNvSpPr>
          <p:nvPr/>
        </p:nvSpPr>
        <p:spPr>
          <a:xfrm xmlns:a="http://schemas.openxmlformats.org/drawingml/2006/main">
            <a:off x="3438525" y="4410075"/>
            <a:ext cx="7715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83E36"/>
                </a:solidFill>
                <a:latin typeface="DM Sans"/>
                <a:ea typeface="DM Sans"/>
                <a:cs typeface="DM Sans"/>
              </a:defRPr>
            </a:pPr>
            <a:r>
              <a:rPr sz="2550" b="1">
                <a:solidFill>
                  <a:srgbClr val="183E36"/>
                </a:solidFill>
                <a:latin typeface="DM Sans"/>
                <a:ea typeface="DM Sans"/>
                <a:cs typeface="DM Sans"/>
              </a:rPr>
              <a:t>No recorded connection</a:t>
            </a:r>
          </a:p>
        </p:txBody>
      </p:sp>
      <p:sp>
        <p:nvSpPr>
          <p:cNvPr id="12" name="">
            <a:extLst xmlns:a="http://schemas.openxmlformats.org/drawingml/2006/main">
              <a:ext uri="{FF2B5EF4-FFF2-40B4-BE49-F238E27FC236}">
                <a16:creationId xmlns:a16="http://schemas.microsoft.com/office/drawing/2014/main" id="{EB414787-87F2-45B2-9848-38E9BF756887}"/>
              </a:ext>
            </a:extLst>
          </p:cNvPr>
          <p:cNvSpPr>
            <a:spLocks xmlns:a="http://schemas.openxmlformats.org/drawingml/2006/main" noGrp="1"/>
          </p:cNvSpPr>
          <p:nvPr/>
        </p:nvSpPr>
        <p:spPr>
          <a:xfrm xmlns:a="http://schemas.openxmlformats.org/drawingml/2006/main">
            <a:off x="3457575" y="4943475"/>
            <a:ext cx="771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736B"/>
                </a:solidFill>
                <a:latin typeface="DM Sans"/>
                <a:ea typeface="DM Sans"/>
                <a:cs typeface="DM Sans"/>
              </a:defRPr>
            </a:pPr>
            <a:r>
              <a:rPr sz="1875" b="0">
                <a:solidFill>
                  <a:srgbClr val="62736B"/>
                </a:solidFill>
                <a:latin typeface="DM Sans"/>
                <a:ea typeface="DM Sans"/>
                <a:cs typeface="DM Sans"/>
              </a:rPr>
              <a:t>No path appears in these records. This does not mean safe.</a:t>
            </a:r>
          </a:p>
        </p:txBody>
      </p:sp>
      <p:sp>
        <p:nvSpPr>
          <p:cNvPr id="13" name="">
            <a:extLst xmlns:a="http://schemas.openxmlformats.org/drawingml/2006/main">
              <a:ext uri="{FF2B5EF4-FFF2-40B4-BE49-F238E27FC236}">
                <a16:creationId xmlns:a16="http://schemas.microsoft.com/office/drawing/2014/main" id="{34EC9DC8-F460-48EE-9032-7C835AB41578}"/>
              </a:ext>
            </a:extLst>
          </p:cNvPr>
          <p:cNvSpPr>
            <a:spLocks xmlns:a="http://schemas.openxmlformats.org/drawingml/2006/main" noGrp="1"/>
          </p:cNvSpPr>
          <p:nvPr/>
        </p:nvSpPr>
        <p:spPr>
          <a:xfrm xmlns:a="http://schemas.openxmlformats.org/drawingml/2006/main">
            <a:off x="647700" y="59340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62736B"/>
                </a:solidFill>
                <a:latin typeface="DM Sans"/>
                <a:ea typeface="DM Sans"/>
                <a:cs typeface="DM Sans"/>
              </a:defRPr>
            </a:pPr>
            <a:r>
              <a:rPr sz="1500" b="0">
                <a:solidFill>
                  <a:srgbClr val="62736B"/>
                </a:solidFill>
                <a:latin typeface="DM Sans"/>
                <a:ea typeface="DM Sans"/>
                <a:cs typeface="DM Sans"/>
              </a:rPr>
              <a:t>Finished jars in the synthetic demonstration. Intermediate bulk quantities are separate.</a:t>
            </a:r>
          </a:p>
        </p:txBody>
      </p:sp>
    </p:spTree>
    <p:extLst>
      <p:ext uri="{BB962C8B-B14F-4D97-AF65-F5344CB8AC3E}">
        <p14:creationId xmlns:p14="http://schemas.microsoft.com/office/powerpoint/2010/main" val="83947468"/>
      </p:ext>
    </p:extLst>
  </p:cSld>
</p:sld>
</file>

<file path=ppt/slides/slide5.xml><?xml version="1.0" encoding="utf-8"?>
<p:sld xmlns:p="http://schemas.openxmlformats.org/presentationml/2006/main">
  <p:cSld>
    <p:bg>
      <p:bgPr>
        <a:solidFill xmlns:a="http://schemas.openxmlformats.org/drawingml/2006/main">
          <a:srgbClr val="183E3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EFD2D6-516D-429D-87DA-72D6FDEAFE30}"/>
              </a:ext>
            </a:extLst>
          </p:cNvPr>
          <p:cNvSpPr>
            <a:spLocks xmlns:a="http://schemas.openxmlformats.org/drawingml/2006/main" noGrp="1"/>
          </p:cNvSpPr>
          <p:nvPr/>
        </p:nvSpPr>
        <p:spPr>
          <a:xfrm xmlns:a="http://schemas.openxmlformats.org/drawingml/2006/main">
            <a:off x="609600" y="4953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0">
                <a:solidFill>
                  <a:srgbClr val="F7F6F0"/>
                </a:solidFill>
                <a:latin typeface="Instrument Serif"/>
                <a:ea typeface="Instrument Serif"/>
                <a:cs typeface="Instrument Serif"/>
              </a:defRPr>
            </a:pPr>
            <a:r>
              <a:rPr sz="3900" b="0">
                <a:solidFill>
                  <a:srgbClr val="F7F6F0"/>
                </a:solidFill>
                <a:latin typeface="Instrument Serif"/>
                <a:ea typeface="Instrument Serif"/>
                <a:cs typeface="Instrument Serif"/>
              </a:rPr>
              <a:t>New evidence changes the live scope</a:t>
            </a:r>
          </a:p>
        </p:txBody>
      </p:sp>
      <p:sp>
        <p:nvSpPr>
          <p:cNvPr id="2" name="">
            <a:extLst xmlns:a="http://schemas.openxmlformats.org/drawingml/2006/main">
              <a:ext uri="{FF2B5EF4-FFF2-40B4-BE49-F238E27FC236}">
                <a16:creationId xmlns:a16="http://schemas.microsoft.com/office/drawing/2014/main" id="{FE893D5B-0F91-452C-BB9D-021E8B9FD1A1}"/>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D7E1D8"/>
                </a:solidFill>
                <a:latin typeface="DM Sans"/>
                <a:ea typeface="DM Sans"/>
                <a:cs typeface="DM Sans"/>
              </a:defRPr>
            </a:pPr>
            <a:r>
              <a:rPr sz="1275" b="0">
                <a:solidFill>
                  <a:srgbClr val="D7E1D8"/>
                </a:solidFill>
                <a:latin typeface="DM Sans"/>
                <a:ea typeface="DM Sans"/>
                <a:cs typeface="DM Sans"/>
              </a:rPr>
              <a:t>Batchlight</a:t>
            </a:r>
          </a:p>
        </p:txBody>
      </p:sp>
      <p:sp>
        <p:nvSpPr>
          <p:cNvPr id="3" name="">
            <a:extLst xmlns:a="http://schemas.openxmlformats.org/drawingml/2006/main">
              <a:ext uri="{FF2B5EF4-FFF2-40B4-BE49-F238E27FC236}">
                <a16:creationId xmlns:a16="http://schemas.microsoft.com/office/drawing/2014/main" id="{A6BDA3FA-E5BC-4A0B-A678-16D4560F3CC2}"/>
              </a:ext>
            </a:extLst>
          </p:cNvPr>
          <p:cNvSpPr>
            <a:spLocks xmlns:a="http://schemas.openxmlformats.org/drawingml/2006/main" noGrp="1"/>
          </p:cNvSpPr>
          <p:nvPr/>
        </p:nvSpPr>
        <p:spPr>
          <a:xfrm xmlns:a="http://schemas.openxmlformats.org/drawingml/2006/main">
            <a:off x="11049000" y="63722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D7E1D8"/>
                </a:solidFill>
                <a:latin typeface="DM Sans"/>
                <a:ea typeface="DM Sans"/>
                <a:cs typeface="DM Sans"/>
              </a:defRPr>
            </a:pPr>
            <a:r>
              <a:rPr sz="1275" b="0">
                <a:solidFill>
                  <a:srgbClr val="D7E1D8"/>
                </a:solidFill>
                <a:latin typeface="DM Sans"/>
                <a:ea typeface="DM Sans"/>
                <a:cs typeface="DM Sans"/>
              </a:rPr>
              <a:t>05</a:t>
            </a:r>
          </a:p>
        </p:txBody>
      </p:sp>
      <p:sp>
        <p:nvSpPr>
          <p:cNvPr id="4" name="">
            <a:extLst xmlns:a="http://schemas.openxmlformats.org/drawingml/2006/main">
              <a:ext uri="{FF2B5EF4-FFF2-40B4-BE49-F238E27FC236}">
                <a16:creationId xmlns:a16="http://schemas.microsoft.com/office/drawing/2014/main" id="{FED546F0-DB08-4911-8A55-1AB9A7489911}"/>
              </a:ext>
            </a:extLst>
          </p:cNvPr>
          <p:cNvSpPr>
            <a:spLocks xmlns:a="http://schemas.openxmlformats.org/drawingml/2006/main" noGrp="1"/>
          </p:cNvSpPr>
          <p:nvPr/>
        </p:nvSpPr>
        <p:spPr>
          <a:xfrm xmlns:a="http://schemas.openxmlformats.org/drawingml/2006/main">
            <a:off x="628650" y="16478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F7F6F0"/>
                </a:solidFill>
                <a:latin typeface="DM Sans"/>
                <a:ea typeface="DM Sans"/>
                <a:cs typeface="DM Sans"/>
              </a:defRPr>
            </a:pPr>
            <a:r>
              <a:rPr sz="2400" b="1">
                <a:solidFill>
                  <a:srgbClr val="F7F6F0"/>
                </a:solidFill>
                <a:latin typeface="DM Sans"/>
                <a:ea typeface="DM Sans"/>
                <a:cs typeface="DM Sans"/>
              </a:rPr>
              <a:t>Before the missing entry is resolved</a:t>
            </a:r>
          </a:p>
        </p:txBody>
      </p:sp>
      <p:sp>
        <p:nvSpPr>
          <p:cNvPr id="5" name="">
            <a:extLst xmlns:a="http://schemas.openxmlformats.org/drawingml/2006/main">
              <a:ext uri="{FF2B5EF4-FFF2-40B4-BE49-F238E27FC236}">
                <a16:creationId xmlns:a16="http://schemas.microsoft.com/office/drawing/2014/main" id="{06026B54-3CD6-4329-AF47-C0BF89E286A9}"/>
              </a:ext>
            </a:extLst>
          </p:cNvPr>
          <p:cNvSpPr>
            <a:spLocks xmlns:a="http://schemas.openxmlformats.org/drawingml/2006/main" noGrp="1"/>
          </p:cNvSpPr>
          <p:nvPr/>
        </p:nvSpPr>
        <p:spPr>
          <a:xfrm xmlns:a="http://schemas.openxmlformats.org/drawingml/2006/main">
            <a:off x="628650" y="2400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825" b="0">
                <a:solidFill>
                  <a:srgbClr val="D7E1D8"/>
                </a:solidFill>
                <a:latin typeface="Instrument Serif"/>
                <a:ea typeface="Instrument Serif"/>
                <a:cs typeface="Instrument Serif"/>
              </a:defRPr>
            </a:pPr>
            <a:r>
              <a:rPr sz="3825" b="0">
                <a:solidFill>
                  <a:srgbClr val="D7E1D8"/>
                </a:solidFill>
                <a:latin typeface="Instrument Serif"/>
                <a:ea typeface="Instrument Serif"/>
                <a:cs typeface="Instrument Serif"/>
              </a:rPr>
              <a:t>120 jars need investigation</a:t>
            </a:r>
          </a:p>
        </p:txBody>
      </p:sp>
      <p:sp>
        <p:nvSpPr>
          <p:cNvPr id="6" name="">
            <a:extLst xmlns:a="http://schemas.openxmlformats.org/drawingml/2006/main">
              <a:ext uri="{FF2B5EF4-FFF2-40B4-BE49-F238E27FC236}">
                <a16:creationId xmlns:a16="http://schemas.microsoft.com/office/drawing/2014/main" id="{37E92B62-A425-4F87-BBC5-DB80F3949587}"/>
              </a:ext>
            </a:extLst>
          </p:cNvPr>
          <p:cNvSpPr>
            <a:spLocks xmlns:a="http://schemas.openxmlformats.org/drawingml/2006/main" noGrp="1"/>
          </p:cNvSpPr>
          <p:nvPr/>
        </p:nvSpPr>
        <p:spPr>
          <a:xfrm xmlns:a="http://schemas.openxmlformats.org/drawingml/2006/main">
            <a:off x="628650" y="3371850"/>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F7F6F0"/>
                </a:solidFill>
                <a:latin typeface="DM Sans"/>
                <a:ea typeface="DM Sans"/>
                <a:cs typeface="DM Sans"/>
              </a:defRPr>
            </a:pPr>
            <a:r>
              <a:rPr sz="2175" b="0">
                <a:solidFill>
                  <a:srgbClr val="F7F6F0"/>
                </a:solidFill>
                <a:latin typeface="DM Sans"/>
                <a:ea typeface="DM Sans"/>
                <a:cs typeface="DM Sans"/>
              </a:rPr>
              <a:t>The maker adds a source reference confirming PAP-2410.</a:t>
            </a:r>
          </a:p>
        </p:txBody>
      </p:sp>
      <p:sp>
        <p:nvSpPr>
          <p:cNvPr id="7" name="">
            <a:extLst xmlns:a="http://schemas.openxmlformats.org/drawingml/2006/main">
              <a:ext uri="{FF2B5EF4-FFF2-40B4-BE49-F238E27FC236}">
                <a16:creationId xmlns:a16="http://schemas.microsoft.com/office/drawing/2014/main" id="{EEDB19D8-1CDC-4EA4-8ED2-E57462BB7786}"/>
              </a:ext>
            </a:extLst>
          </p:cNvPr>
          <p:cNvSpPr>
            <a:spLocks xmlns:a="http://schemas.openxmlformats.org/drawingml/2006/main" noGrp="1"/>
          </p:cNvSpPr>
          <p:nvPr/>
        </p:nvSpPr>
        <p:spPr>
          <a:xfrm xmlns:a="http://schemas.openxmlformats.org/drawingml/2006/main">
            <a:off x="628650" y="4162425"/>
            <a:ext cx="10572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F7F6F0"/>
                </a:solidFill>
                <a:latin typeface="DM Sans"/>
                <a:ea typeface="DM Sans"/>
                <a:cs typeface="DM Sans"/>
              </a:defRPr>
            </a:pPr>
            <a:r>
              <a:rPr sz="2475" b="0">
                <a:solidFill>
                  <a:srgbClr val="F7F6F0"/>
                </a:solidFill>
                <a:latin typeface="DM Sans"/>
                <a:ea typeface="DM Sans"/>
                <a:cs typeface="DM Sans"/>
              </a:rPr>
              <a:t>The current trace shows no recorded connection</a:t>
            </a:r>
          </a:p>
          <a:p xmlns:a="http://schemas.openxmlformats.org/drawingml/2006/main">
            <a:pPr algn="l">
              <a:defRPr sz="2475" b="0">
                <a:solidFill>
                  <a:srgbClr val="F7F6F0"/>
                </a:solidFill>
                <a:latin typeface="DM Sans"/>
                <a:ea typeface="DM Sans"/>
                <a:cs typeface="DM Sans"/>
              </a:defRPr>
            </a:pPr>
            <a:r>
              <a:rPr sz="2475" b="0">
                <a:solidFill>
                  <a:srgbClr val="F7F6F0"/>
                </a:solidFill>
                <a:latin typeface="DM Sans"/>
                <a:ea typeface="DM Sans"/>
                <a:cs typeface="DM Sans"/>
              </a:rPr>
              <a:t>for those 120 jars. It still makes no safety judgment.</a:t>
            </a:r>
          </a:p>
        </p:txBody>
      </p:sp>
      <p:sp>
        <p:nvSpPr>
          <p:cNvPr id="8" name="">
            <a:extLst xmlns:a="http://schemas.openxmlformats.org/drawingml/2006/main">
              <a:ext uri="{FF2B5EF4-FFF2-40B4-BE49-F238E27FC236}">
                <a16:creationId xmlns:a16="http://schemas.microsoft.com/office/drawing/2014/main" id="{4BC5143D-1CED-4337-A261-57A77CBB583B}"/>
              </a:ext>
            </a:extLst>
          </p:cNvPr>
          <p:cNvSpPr>
            <a:spLocks xmlns:a="http://schemas.openxmlformats.org/drawingml/2006/main" noGrp="1"/>
          </p:cNvSpPr>
          <p:nvPr/>
        </p:nvSpPr>
        <p:spPr>
          <a:xfrm xmlns:a="http://schemas.openxmlformats.org/drawingml/2006/main">
            <a:off x="628650" y="56578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D7E1D8"/>
                </a:solidFill>
                <a:latin typeface="DM Sans"/>
                <a:ea typeface="DM Sans"/>
                <a:cs typeface="DM Sans"/>
              </a:defRPr>
            </a:pPr>
            <a:r>
              <a:rPr sz="2025" b="0">
                <a:solidFill>
                  <a:srgbClr val="D7E1D8"/>
                </a:solidFill>
                <a:latin typeface="DM Sans"/>
                <a:ea typeface="DM Sans"/>
                <a:cs typeface="DM Sans"/>
              </a:rPr>
              <a:t>The earlier saved rehearsal retains the original uncertainty.</a:t>
            </a:r>
          </a:p>
        </p:txBody>
      </p:sp>
    </p:spTree>
    <p:extLst>
      <p:ext uri="{BB962C8B-B14F-4D97-AF65-F5344CB8AC3E}">
        <p14:creationId xmlns:p14="http://schemas.microsoft.com/office/powerpoint/2010/main" val="1239559126"/>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E29254-E4E3-4B47-A7C7-87488BBB9A12}"/>
              </a:ext>
            </a:extLst>
          </p:cNvPr>
          <p:cNvSpPr>
            <a:spLocks xmlns:a="http://schemas.openxmlformats.org/drawingml/2006/main" noGrp="1"/>
          </p:cNvSpPr>
          <p:nvPr/>
        </p:nvSpPr>
        <p:spPr>
          <a:xfrm xmlns:a="http://schemas.openxmlformats.org/drawingml/2006/main">
            <a:off x="609600" y="4953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0">
                <a:solidFill>
                  <a:srgbClr val="183E36"/>
                </a:solidFill>
                <a:latin typeface="Instrument Serif"/>
                <a:ea typeface="Instrument Serif"/>
                <a:cs typeface="Instrument Serif"/>
              </a:defRPr>
            </a:pPr>
            <a:r>
              <a:rPr sz="3900" b="0">
                <a:solidFill>
                  <a:srgbClr val="183E36"/>
                </a:solidFill>
                <a:latin typeface="Instrument Serif"/>
                <a:ea typeface="Instrument Serif"/>
                <a:cs typeface="Instrument Serif"/>
              </a:rPr>
              <a:t>A focused place in an existing market</a:t>
            </a:r>
          </a:p>
        </p:txBody>
      </p:sp>
      <p:sp>
        <p:nvSpPr>
          <p:cNvPr id="2" name="">
            <a:extLst xmlns:a="http://schemas.openxmlformats.org/drawingml/2006/main">
              <a:ext uri="{FF2B5EF4-FFF2-40B4-BE49-F238E27FC236}">
                <a16:creationId xmlns:a16="http://schemas.microsoft.com/office/drawing/2014/main" id="{23D1309E-DE4C-46D9-AADC-33C241EBA1A4}"/>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2736B"/>
                </a:solidFill>
                <a:latin typeface="DM Sans"/>
                <a:ea typeface="DM Sans"/>
                <a:cs typeface="DM Sans"/>
              </a:defRPr>
            </a:pPr>
            <a:r>
              <a:rPr sz="1275" b="0">
                <a:solidFill>
                  <a:srgbClr val="62736B"/>
                </a:solidFill>
                <a:latin typeface="DM Sans"/>
                <a:ea typeface="DM Sans"/>
                <a:cs typeface="DM Sans"/>
              </a:rPr>
              <a:t>Batchlight</a:t>
            </a:r>
          </a:p>
        </p:txBody>
      </p:sp>
      <p:sp>
        <p:nvSpPr>
          <p:cNvPr id="3" name="">
            <a:extLst xmlns:a="http://schemas.openxmlformats.org/drawingml/2006/main">
              <a:ext uri="{FF2B5EF4-FFF2-40B4-BE49-F238E27FC236}">
                <a16:creationId xmlns:a16="http://schemas.microsoft.com/office/drawing/2014/main" id="{0FDB7EDB-F9C5-4432-9701-5850C762D2C0}"/>
              </a:ext>
            </a:extLst>
          </p:cNvPr>
          <p:cNvSpPr>
            <a:spLocks xmlns:a="http://schemas.openxmlformats.org/drawingml/2006/main" noGrp="1"/>
          </p:cNvSpPr>
          <p:nvPr/>
        </p:nvSpPr>
        <p:spPr>
          <a:xfrm xmlns:a="http://schemas.openxmlformats.org/drawingml/2006/main">
            <a:off x="11049000" y="63722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62736B"/>
                </a:solidFill>
                <a:latin typeface="DM Sans"/>
                <a:ea typeface="DM Sans"/>
                <a:cs typeface="DM Sans"/>
              </a:defRPr>
            </a:pPr>
            <a:r>
              <a:rPr sz="1275" b="0">
                <a:solidFill>
                  <a:srgbClr val="62736B"/>
                </a:solidFill>
                <a:latin typeface="DM Sans"/>
                <a:ea typeface="DM Sans"/>
                <a:cs typeface="DM Sans"/>
              </a:rPr>
              <a:t>06</a:t>
            </a:r>
          </a:p>
        </p:txBody>
      </p:sp>
      <p:sp>
        <p:nvSpPr>
          <p:cNvPr id="4" name="">
            <a:extLst xmlns:a="http://schemas.openxmlformats.org/drawingml/2006/main">
              <a:ext uri="{FF2B5EF4-FFF2-40B4-BE49-F238E27FC236}">
                <a16:creationId xmlns:a16="http://schemas.microsoft.com/office/drawing/2014/main" id="{5FAC85CA-6403-4652-B332-6EB2D32F197E}"/>
              </a:ext>
            </a:extLst>
          </p:cNvPr>
          <p:cNvSpPr>
            <a:spLocks xmlns:a="http://schemas.openxmlformats.org/drawingml/2006/main" noGrp="1"/>
          </p:cNvSpPr>
          <p:nvPr/>
        </p:nvSpPr>
        <p:spPr>
          <a:xfrm xmlns:a="http://schemas.openxmlformats.org/drawingml/2006/main">
            <a:off x="638175" y="16764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0">
                <a:solidFill>
                  <a:srgbClr val="D45A38"/>
                </a:solidFill>
                <a:latin typeface="Instrument Serif"/>
                <a:ea typeface="Instrument Serif"/>
                <a:cs typeface="Instrument Serif"/>
              </a:defRPr>
            </a:pPr>
            <a:r>
              <a:rPr sz="3150" b="0">
                <a:solidFill>
                  <a:srgbClr val="D45A38"/>
                </a:solidFill>
                <a:latin typeface="Instrument Serif"/>
                <a:ea typeface="Instrument Serif"/>
                <a:cs typeface="Instrument Serif"/>
              </a:rPr>
              <a:t>Traceability software already exists.</a:t>
            </a:r>
          </a:p>
        </p:txBody>
      </p:sp>
      <p:sp>
        <p:nvSpPr>
          <p:cNvPr id="5" name="">
            <a:extLst xmlns:a="http://schemas.openxmlformats.org/drawingml/2006/main">
              <a:ext uri="{FF2B5EF4-FFF2-40B4-BE49-F238E27FC236}">
                <a16:creationId xmlns:a16="http://schemas.microsoft.com/office/drawing/2014/main" id="{295D73E2-87A7-44EF-8988-72689024CA9A}"/>
              </a:ext>
            </a:extLst>
          </p:cNvPr>
          <p:cNvSpPr>
            <a:spLocks xmlns:a="http://schemas.openxmlformats.org/drawingml/2006/main" noGrp="1"/>
          </p:cNvSpPr>
          <p:nvPr/>
        </p:nvSpPr>
        <p:spPr>
          <a:xfrm xmlns:a="http://schemas.openxmlformats.org/drawingml/2006/main">
            <a:off x="647700" y="268605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83E36"/>
                </a:solidFill>
                <a:latin typeface="DM Sans"/>
                <a:ea typeface="DM Sans"/>
                <a:cs typeface="DM Sans"/>
              </a:defRPr>
            </a:pPr>
            <a:r>
              <a:rPr sz="2325" b="0">
                <a:solidFill>
                  <a:srgbClr val="183E36"/>
                </a:solidFill>
                <a:latin typeface="DM Sans"/>
                <a:ea typeface="DM Sans"/>
                <a:cs typeface="DM Sans"/>
              </a:rPr>
              <a:t>Lotpath and LotThread already sell recall drills.</a:t>
            </a:r>
          </a:p>
          <a:p xmlns:a="http://schemas.openxmlformats.org/drawingml/2006/main">
            <a:pPr algn="l">
              <a:defRPr sz="2325" b="0">
                <a:solidFill>
                  <a:srgbClr val="183E36"/>
                </a:solidFill>
                <a:latin typeface="DM Sans"/>
                <a:ea typeface="DM Sans"/>
                <a:cs typeface="DM Sans"/>
              </a:defRPr>
            </a:pPr>
            <a:r>
              <a:rPr sz="2325" b="0">
                <a:solidFill>
                  <a:srgbClr val="183E36"/>
                </a:solidFill>
                <a:latin typeface="DM Sans"/>
                <a:ea typeface="DM Sans"/>
                <a:cs typeface="DM Sans"/>
              </a:rPr>
              <a:t>Stocksmith and FourFoxes serve the same makers.</a:t>
            </a:r>
          </a:p>
        </p:txBody>
      </p:sp>
      <p:sp>
        <p:nvSpPr>
          <p:cNvPr id="6" name="">
            <a:extLst xmlns:a="http://schemas.openxmlformats.org/drawingml/2006/main">
              <a:ext uri="{FF2B5EF4-FFF2-40B4-BE49-F238E27FC236}">
                <a16:creationId xmlns:a16="http://schemas.microsoft.com/office/drawing/2014/main" id="{BE265C01-8868-4F20-B0C0-3F9A74DB05A6}"/>
              </a:ext>
            </a:extLst>
          </p:cNvPr>
          <p:cNvSpPr>
            <a:spLocks xmlns:a="http://schemas.openxmlformats.org/drawingml/2006/main" noGrp="1"/>
          </p:cNvSpPr>
          <p:nvPr/>
        </p:nvSpPr>
        <p:spPr>
          <a:xfrm xmlns:a="http://schemas.openxmlformats.org/drawingml/2006/main">
            <a:off x="647700" y="40671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83E36"/>
                </a:solidFill>
                <a:latin typeface="DM Sans"/>
                <a:ea typeface="DM Sans"/>
                <a:cs typeface="DM Sans"/>
              </a:defRPr>
            </a:pPr>
            <a:r>
              <a:rPr sz="1800" b="1">
                <a:solidFill>
                  <a:srgbClr val="183E36"/>
                </a:solidFill>
                <a:latin typeface="DM Sans"/>
                <a:ea typeface="DM Sans"/>
                <a:cs typeface="DM Sans"/>
              </a:rPr>
              <a:t>Our product hypothesis</a:t>
            </a:r>
          </a:p>
        </p:txBody>
      </p:sp>
      <p:sp>
        <p:nvSpPr>
          <p:cNvPr id="7" name="">
            <a:extLst xmlns:a="http://schemas.openxmlformats.org/drawingml/2006/main">
              <a:ext uri="{FF2B5EF4-FFF2-40B4-BE49-F238E27FC236}">
                <a16:creationId xmlns:a16="http://schemas.microsoft.com/office/drawing/2014/main" id="{2BDBBF02-1C2A-424A-8943-2459D10ECA22}"/>
              </a:ext>
            </a:extLst>
          </p:cNvPr>
          <p:cNvSpPr>
            <a:spLocks xmlns:a="http://schemas.openxmlformats.org/drawingml/2006/main" noGrp="1"/>
          </p:cNvSpPr>
          <p:nvPr/>
        </p:nvSpPr>
        <p:spPr>
          <a:xfrm xmlns:a="http://schemas.openxmlformats.org/drawingml/2006/main">
            <a:off x="647700" y="4667250"/>
            <a:ext cx="10572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83E36"/>
                </a:solidFill>
                <a:latin typeface="DM Sans"/>
                <a:ea typeface="DM Sans"/>
                <a:cs typeface="DM Sans"/>
              </a:defRPr>
            </a:pPr>
            <a:r>
              <a:rPr sz="2325" b="0">
                <a:solidFill>
                  <a:srgbClr val="183E36"/>
                </a:solidFill>
                <a:latin typeface="DM Sans"/>
                <a:ea typeface="DM Sans"/>
                <a:cs typeface="DM Sans"/>
              </a:rPr>
              <a:t>A maker will value closing a record gap without</a:t>
            </a:r>
          </a:p>
          <a:p xmlns:a="http://schemas.openxmlformats.org/drawingml/2006/main">
            <a:pPr algn="l">
              <a:defRPr sz="2325" b="0">
                <a:solidFill>
                  <a:srgbClr val="183E36"/>
                </a:solidFill>
                <a:latin typeface="DM Sans"/>
                <a:ea typeface="DM Sans"/>
                <a:cs typeface="DM Sans"/>
              </a:defRPr>
            </a:pPr>
            <a:r>
              <a:rPr sz="2325" b="0">
                <a:solidFill>
                  <a:srgbClr val="183E36"/>
                </a:solidFill>
                <a:latin typeface="DM Sans"/>
                <a:ea typeface="DM Sans"/>
                <a:cs typeface="DM Sans"/>
              </a:rPr>
              <a:t>losing its history. New evidence updates the live</a:t>
            </a:r>
          </a:p>
          <a:p xmlns:a="http://schemas.openxmlformats.org/drawingml/2006/main">
            <a:pPr algn="l">
              <a:defRPr sz="2325" b="0">
                <a:solidFill>
                  <a:srgbClr val="183E36"/>
                </a:solidFill>
                <a:latin typeface="DM Sans"/>
                <a:ea typeface="DM Sans"/>
                <a:cs typeface="DM Sans"/>
              </a:defRPr>
            </a:pPr>
            <a:r>
              <a:rPr sz="2325" b="0">
                <a:solidFill>
                  <a:srgbClr val="183E36"/>
                </a:solidFill>
                <a:latin typeface="DM Sans"/>
                <a:ea typeface="DM Sans"/>
                <a:cs typeface="DM Sans"/>
              </a:rPr>
              <a:t>scope, while earlier reports keep their original basis.</a:t>
            </a:r>
          </a:p>
        </p:txBody>
      </p:sp>
    </p:spTree>
    <p:extLst>
      <p:ext uri="{BB962C8B-B14F-4D97-AF65-F5344CB8AC3E}">
        <p14:creationId xmlns:p14="http://schemas.microsoft.com/office/powerpoint/2010/main" val="297719226"/>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41E533-4759-4265-B3FD-12EF1F8BA2FD}"/>
              </a:ext>
            </a:extLst>
          </p:cNvPr>
          <p:cNvSpPr>
            <a:spLocks xmlns:a="http://schemas.openxmlformats.org/drawingml/2006/main" noGrp="1"/>
          </p:cNvSpPr>
          <p:nvPr/>
        </p:nvSpPr>
        <p:spPr>
          <a:xfrm xmlns:a="http://schemas.openxmlformats.org/drawingml/2006/main">
            <a:off x="609600" y="4953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0">
                <a:solidFill>
                  <a:srgbClr val="183E36"/>
                </a:solidFill>
                <a:latin typeface="Instrument Serif"/>
                <a:ea typeface="Instrument Serif"/>
                <a:cs typeface="Instrument Serif"/>
              </a:defRPr>
            </a:pPr>
            <a:r>
              <a:rPr sz="3900" b="0">
                <a:solidFill>
                  <a:srgbClr val="183E36"/>
                </a:solidFill>
                <a:latin typeface="Instrument Serif"/>
                <a:ea typeface="Instrument Serif"/>
                <a:cs typeface="Instrument Serif"/>
              </a:rPr>
              <a:t>A price worth testing</a:t>
            </a:r>
          </a:p>
        </p:txBody>
      </p:sp>
      <p:sp>
        <p:nvSpPr>
          <p:cNvPr id="2" name="">
            <a:extLst xmlns:a="http://schemas.openxmlformats.org/drawingml/2006/main">
              <a:ext uri="{FF2B5EF4-FFF2-40B4-BE49-F238E27FC236}">
                <a16:creationId xmlns:a16="http://schemas.microsoft.com/office/drawing/2014/main" id="{91D02BB0-E90E-47A0-8856-551BC5902FEB}"/>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2736B"/>
                </a:solidFill>
                <a:latin typeface="DM Sans"/>
                <a:ea typeface="DM Sans"/>
                <a:cs typeface="DM Sans"/>
              </a:defRPr>
            </a:pPr>
            <a:r>
              <a:rPr sz="1275" b="0">
                <a:solidFill>
                  <a:srgbClr val="62736B"/>
                </a:solidFill>
                <a:latin typeface="DM Sans"/>
                <a:ea typeface="DM Sans"/>
                <a:cs typeface="DM Sans"/>
              </a:rPr>
              <a:t>Batchlight</a:t>
            </a:r>
          </a:p>
        </p:txBody>
      </p:sp>
      <p:sp>
        <p:nvSpPr>
          <p:cNvPr id="3" name="">
            <a:extLst xmlns:a="http://schemas.openxmlformats.org/drawingml/2006/main">
              <a:ext uri="{FF2B5EF4-FFF2-40B4-BE49-F238E27FC236}">
                <a16:creationId xmlns:a16="http://schemas.microsoft.com/office/drawing/2014/main" id="{D061CE63-C4F3-429A-8344-CDAEC05A20C0}"/>
              </a:ext>
            </a:extLst>
          </p:cNvPr>
          <p:cNvSpPr>
            <a:spLocks xmlns:a="http://schemas.openxmlformats.org/drawingml/2006/main" noGrp="1"/>
          </p:cNvSpPr>
          <p:nvPr/>
        </p:nvSpPr>
        <p:spPr>
          <a:xfrm xmlns:a="http://schemas.openxmlformats.org/drawingml/2006/main">
            <a:off x="11049000" y="63722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62736B"/>
                </a:solidFill>
                <a:latin typeface="DM Sans"/>
                <a:ea typeface="DM Sans"/>
                <a:cs typeface="DM Sans"/>
              </a:defRPr>
            </a:pPr>
            <a:r>
              <a:rPr sz="1275" b="0">
                <a:solidFill>
                  <a:srgbClr val="62736B"/>
                </a:solidFill>
                <a:latin typeface="DM Sans"/>
                <a:ea typeface="DM Sans"/>
                <a:cs typeface="DM Sans"/>
              </a:rPr>
              <a:t>07</a:t>
            </a:r>
          </a:p>
        </p:txBody>
      </p:sp>
      <p:sp>
        <p:nvSpPr>
          <p:cNvPr id="4" name="">
            <a:extLst xmlns:a="http://schemas.openxmlformats.org/drawingml/2006/main">
              <a:ext uri="{FF2B5EF4-FFF2-40B4-BE49-F238E27FC236}">
                <a16:creationId xmlns:a16="http://schemas.microsoft.com/office/drawing/2014/main" id="{5E22F8E3-5279-4317-B4CF-26B113FA669B}"/>
              </a:ext>
            </a:extLst>
          </p:cNvPr>
          <p:cNvSpPr>
            <a:spLocks xmlns:a="http://schemas.openxmlformats.org/drawingml/2006/main" noGrp="1"/>
          </p:cNvSpPr>
          <p:nvPr/>
        </p:nvSpPr>
        <p:spPr>
          <a:xfrm xmlns:a="http://schemas.openxmlformats.org/drawingml/2006/main">
            <a:off x="619125" y="1809750"/>
            <a:ext cx="46196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450" b="0">
                <a:solidFill>
                  <a:srgbClr val="D45A38"/>
                </a:solidFill>
                <a:latin typeface="Instrument Serif"/>
                <a:ea typeface="Instrument Serif"/>
                <a:cs typeface="Instrument Serif"/>
              </a:defRPr>
            </a:pPr>
            <a:r>
              <a:rPr sz="9450" b="0">
                <a:solidFill>
                  <a:srgbClr val="D45A38"/>
                </a:solidFill>
                <a:latin typeface="Instrument Serif"/>
                <a:ea typeface="Instrument Serif"/>
                <a:cs typeface="Instrument Serif"/>
              </a:rPr>
              <a:t>$29</a:t>
            </a:r>
          </a:p>
        </p:txBody>
      </p:sp>
      <p:sp>
        <p:nvSpPr>
          <p:cNvPr id="5" name="">
            <a:extLst xmlns:a="http://schemas.openxmlformats.org/drawingml/2006/main">
              <a:ext uri="{FF2B5EF4-FFF2-40B4-BE49-F238E27FC236}">
                <a16:creationId xmlns:a16="http://schemas.microsoft.com/office/drawing/2014/main" id="{55BFF807-C251-43C1-873B-B6664F497FEA}"/>
              </a:ext>
            </a:extLst>
          </p:cNvPr>
          <p:cNvSpPr>
            <a:spLocks xmlns:a="http://schemas.openxmlformats.org/drawingml/2006/main" noGrp="1"/>
          </p:cNvSpPr>
          <p:nvPr/>
        </p:nvSpPr>
        <p:spPr>
          <a:xfrm xmlns:a="http://schemas.openxmlformats.org/drawingml/2006/main">
            <a:off x="685800" y="3438525"/>
            <a:ext cx="46577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83E36"/>
                </a:solidFill>
                <a:latin typeface="DM Sans"/>
                <a:ea typeface="DM Sans"/>
                <a:cs typeface="DM Sans"/>
              </a:defRPr>
            </a:pPr>
            <a:r>
              <a:rPr sz="2175" b="0">
                <a:solidFill>
                  <a:srgbClr val="183E36"/>
                </a:solidFill>
                <a:latin typeface="DM Sans"/>
                <a:ea typeface="DM Sans"/>
                <a:cs typeface="DM Sans"/>
              </a:rPr>
              <a:t>per producer / month</a:t>
            </a:r>
          </a:p>
        </p:txBody>
      </p:sp>
      <p:sp>
        <p:nvSpPr>
          <p:cNvPr id="6" name="">
            <a:extLst xmlns:a="http://schemas.openxmlformats.org/drawingml/2006/main">
              <a:ext uri="{FF2B5EF4-FFF2-40B4-BE49-F238E27FC236}">
                <a16:creationId xmlns:a16="http://schemas.microsoft.com/office/drawing/2014/main" id="{17CACE98-D911-4E74-B850-43C88B89C2A1}"/>
              </a:ext>
            </a:extLst>
          </p:cNvPr>
          <p:cNvSpPr>
            <a:spLocks xmlns:a="http://schemas.openxmlformats.org/drawingml/2006/main" noGrp="1"/>
          </p:cNvSpPr>
          <p:nvPr/>
        </p:nvSpPr>
        <p:spPr>
          <a:xfrm xmlns:a="http://schemas.openxmlformats.org/drawingml/2006/main">
            <a:off x="685800" y="4114800"/>
            <a:ext cx="46577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83E36"/>
                </a:solidFill>
                <a:latin typeface="DM Sans"/>
                <a:ea typeface="DM Sans"/>
                <a:cs typeface="DM Sans"/>
              </a:defRPr>
            </a:pPr>
            <a:r>
              <a:rPr sz="1800" b="1">
                <a:solidFill>
                  <a:srgbClr val="183E36"/>
                </a:solidFill>
                <a:latin typeface="DM Sans"/>
                <a:ea typeface="DM Sans"/>
                <a:cs typeface="DM Sans"/>
              </a:rPr>
              <a:t>Proposed hosted plan</a:t>
            </a:r>
          </a:p>
        </p:txBody>
      </p:sp>
      <p:sp>
        <p:nvSpPr>
          <p:cNvPr id="7" name="">
            <a:extLst xmlns:a="http://schemas.openxmlformats.org/drawingml/2006/main">
              <a:ext uri="{FF2B5EF4-FFF2-40B4-BE49-F238E27FC236}">
                <a16:creationId xmlns:a16="http://schemas.microsoft.com/office/drawing/2014/main" id="{8FA8C2CB-7524-40D3-A447-7396273CD14E}"/>
              </a:ext>
            </a:extLst>
          </p:cNvPr>
          <p:cNvSpPr>
            <a:spLocks xmlns:a="http://schemas.openxmlformats.org/drawingml/2006/main" noGrp="1"/>
          </p:cNvSpPr>
          <p:nvPr/>
        </p:nvSpPr>
        <p:spPr>
          <a:xfrm xmlns:a="http://schemas.openxmlformats.org/drawingml/2006/main">
            <a:off x="685800" y="479107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62736B"/>
                </a:solidFill>
                <a:latin typeface="DM Sans"/>
                <a:ea typeface="DM Sans"/>
                <a:cs typeface="DM Sans"/>
              </a:defRPr>
            </a:pPr>
            <a:r>
              <a:rPr sz="1950" b="0">
                <a:solidFill>
                  <a:srgbClr val="62736B"/>
                </a:solidFill>
                <a:latin typeface="DM Sans"/>
                <a:ea typeface="DM Sans"/>
                <a:cs typeface="DM Sans"/>
              </a:rPr>
              <a:t>Free local rehearsal</a:t>
            </a:r>
          </a:p>
          <a:p xmlns:a="http://schemas.openxmlformats.org/drawingml/2006/main">
            <a:pPr algn="l">
              <a:defRPr sz="1950" b="0">
                <a:solidFill>
                  <a:srgbClr val="62736B"/>
                </a:solidFill>
                <a:latin typeface="DM Sans"/>
                <a:ea typeface="DM Sans"/>
                <a:cs typeface="DM Sans"/>
              </a:defRPr>
            </a:pPr>
            <a:r>
              <a:rPr sz="1950" b="0">
                <a:solidFill>
                  <a:srgbClr val="62736B"/>
                </a:solidFill>
                <a:latin typeface="DM Sans"/>
                <a:ea typeface="DM Sans"/>
                <a:cs typeface="DM Sans"/>
              </a:rPr>
              <a:t>No payments implemented</a:t>
            </a:r>
          </a:p>
        </p:txBody>
      </p:sp>
      <p:sp>
        <p:nvSpPr>
          <p:cNvPr id="8" name="">
            <a:extLst xmlns:a="http://schemas.openxmlformats.org/drawingml/2006/main">
              <a:ext uri="{FF2B5EF4-FFF2-40B4-BE49-F238E27FC236}">
                <a16:creationId xmlns:a16="http://schemas.microsoft.com/office/drawing/2014/main" id="{3CECC11F-F520-4D9B-9949-ECDC03DFD4B7}"/>
              </a:ext>
            </a:extLst>
          </p:cNvPr>
          <p:cNvSpPr>
            <a:spLocks xmlns:a="http://schemas.openxmlformats.org/drawingml/2006/main" noGrp="1"/>
          </p:cNvSpPr>
          <p:nvPr/>
        </p:nvSpPr>
        <p:spPr>
          <a:xfrm xmlns:a="http://schemas.openxmlformats.org/drawingml/2006/main">
            <a:off x="6296025" y="17907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83E36"/>
                </a:solidFill>
                <a:latin typeface="DM Sans"/>
                <a:ea typeface="DM Sans"/>
                <a:cs typeface="DM Sans"/>
              </a:defRPr>
            </a:pPr>
            <a:r>
              <a:rPr sz="2250" b="1">
                <a:solidFill>
                  <a:srgbClr val="183E36"/>
                </a:solidFill>
                <a:latin typeface="DM Sans"/>
                <a:ea typeface="DM Sans"/>
                <a:cs typeface="DM Sans"/>
              </a:rPr>
              <a:t>A narrow first customer</a:t>
            </a:r>
          </a:p>
        </p:txBody>
      </p:sp>
      <p:sp>
        <p:nvSpPr>
          <p:cNvPr id="9" name="">
            <a:extLst xmlns:a="http://schemas.openxmlformats.org/drawingml/2006/main">
              <a:ext uri="{FF2B5EF4-FFF2-40B4-BE49-F238E27FC236}">
                <a16:creationId xmlns:a16="http://schemas.microsoft.com/office/drawing/2014/main" id="{67971D74-B6ED-4701-B3CB-9BFD828B58B9}"/>
              </a:ext>
            </a:extLst>
          </p:cNvPr>
          <p:cNvSpPr>
            <a:spLocks xmlns:a="http://schemas.openxmlformats.org/drawingml/2006/main" noGrp="1"/>
          </p:cNvSpPr>
          <p:nvPr/>
        </p:nvSpPr>
        <p:spPr>
          <a:xfrm xmlns:a="http://schemas.openxmlformats.org/drawingml/2006/main">
            <a:off x="6296025" y="2543175"/>
            <a:ext cx="523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83E36"/>
                </a:solidFill>
                <a:latin typeface="DM Sans"/>
                <a:ea typeface="DM Sans"/>
                <a:cs typeface="DM Sans"/>
              </a:defRPr>
            </a:pPr>
            <a:r>
              <a:rPr sz="2325" b="0">
                <a:solidFill>
                  <a:srgbClr val="183E36"/>
                </a:solidFill>
                <a:latin typeface="DM Sans"/>
                <a:ea typeface="DM Sans"/>
                <a:cs typeface="DM Sans"/>
              </a:rPr>
              <a:t>An owner-operated sauce maker</a:t>
            </a:r>
          </a:p>
          <a:p xmlns:a="http://schemas.openxmlformats.org/drawingml/2006/main">
            <a:pPr algn="l">
              <a:defRPr sz="2325" b="0">
                <a:solidFill>
                  <a:srgbClr val="183E36"/>
                </a:solidFill>
                <a:latin typeface="DM Sans"/>
                <a:ea typeface="DM Sans"/>
                <a:cs typeface="DM Sans"/>
              </a:defRPr>
            </a:pPr>
            <a:r>
              <a:rPr sz="2325" b="0">
                <a:solidFill>
                  <a:srgbClr val="183E36"/>
                </a:solidFill>
                <a:latin typeface="DM Sans"/>
                <a:ea typeface="DM Sans"/>
                <a:cs typeface="DM Sans"/>
              </a:rPr>
              <a:t>supplying a few retail or</a:t>
            </a:r>
          </a:p>
          <a:p xmlns:a="http://schemas.openxmlformats.org/drawingml/2006/main">
            <a:pPr algn="l">
              <a:defRPr sz="2325" b="0">
                <a:solidFill>
                  <a:srgbClr val="183E36"/>
                </a:solidFill>
                <a:latin typeface="DM Sans"/>
                <a:ea typeface="DM Sans"/>
                <a:cs typeface="DM Sans"/>
              </a:defRPr>
            </a:pPr>
            <a:r>
              <a:rPr sz="2325" b="0">
                <a:solidFill>
                  <a:srgbClr val="183E36"/>
                </a:solidFill>
                <a:latin typeface="DM Sans"/>
                <a:ea typeface="DM Sans"/>
                <a:cs typeface="DM Sans"/>
              </a:rPr>
              <a:t>wholesale customers.</a:t>
            </a:r>
          </a:p>
        </p:txBody>
      </p:sp>
      <p:sp>
        <p:nvSpPr>
          <p:cNvPr id="10" name="">
            <a:extLst xmlns:a="http://schemas.openxmlformats.org/drawingml/2006/main">
              <a:ext uri="{FF2B5EF4-FFF2-40B4-BE49-F238E27FC236}">
                <a16:creationId xmlns:a16="http://schemas.microsoft.com/office/drawing/2014/main" id="{5D9ECEA8-81AD-47C4-9655-B057C8DB16B2}"/>
              </a:ext>
            </a:extLst>
          </p:cNvPr>
          <p:cNvSpPr>
            <a:spLocks xmlns:a="http://schemas.openxmlformats.org/drawingml/2006/main" noGrp="1"/>
          </p:cNvSpPr>
          <p:nvPr/>
        </p:nvSpPr>
        <p:spPr>
          <a:xfrm xmlns:a="http://schemas.openxmlformats.org/drawingml/2006/main">
            <a:off x="6296025" y="42767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83E36"/>
                </a:solidFill>
                <a:latin typeface="DM Sans"/>
                <a:ea typeface="DM Sans"/>
                <a:cs typeface="DM Sans"/>
              </a:defRPr>
            </a:pPr>
            <a:r>
              <a:rPr sz="2025" b="1">
                <a:solidFill>
                  <a:srgbClr val="183E36"/>
                </a:solidFill>
                <a:latin typeface="DM Sans"/>
                <a:ea typeface="DM Sans"/>
                <a:cs typeface="DM Sans"/>
              </a:rPr>
              <a:t>Economics hypothesis</a:t>
            </a:r>
          </a:p>
        </p:txBody>
      </p:sp>
      <p:sp>
        <p:nvSpPr>
          <p:cNvPr id="11" name="">
            <a:extLst xmlns:a="http://schemas.openxmlformats.org/drawingml/2006/main">
              <a:ext uri="{FF2B5EF4-FFF2-40B4-BE49-F238E27FC236}">
                <a16:creationId xmlns:a16="http://schemas.microsoft.com/office/drawing/2014/main" id="{0A1ECA86-ED78-4507-9F4F-078647FFE801}"/>
              </a:ext>
            </a:extLst>
          </p:cNvPr>
          <p:cNvSpPr>
            <a:spLocks xmlns:a="http://schemas.openxmlformats.org/drawingml/2006/main" noGrp="1"/>
          </p:cNvSpPr>
          <p:nvPr/>
        </p:nvSpPr>
        <p:spPr>
          <a:xfrm xmlns:a="http://schemas.openxmlformats.org/drawingml/2006/main">
            <a:off x="6296025" y="4943475"/>
            <a:ext cx="5238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62736B"/>
                </a:solidFill>
                <a:latin typeface="DM Sans"/>
                <a:ea typeface="DM Sans"/>
                <a:cs typeface="DM Sans"/>
              </a:defRPr>
            </a:pPr>
            <a:r>
              <a:rPr sz="2025" b="0">
                <a:solidFill>
                  <a:srgbClr val="62736B"/>
                </a:solidFill>
                <a:latin typeface="DM Sans"/>
                <a:ea typeface="DM Sans"/>
                <a:cs typeface="DM Sans"/>
              </a:rPr>
              <a:t>$19.83 monthly contribution</a:t>
            </a:r>
          </a:p>
          <a:p xmlns:a="http://schemas.openxmlformats.org/drawingml/2006/main">
            <a:pPr algn="l">
              <a:defRPr sz="2025" b="0">
                <a:solidFill>
                  <a:srgbClr val="62736B"/>
                </a:solidFill>
                <a:latin typeface="DM Sans"/>
                <a:ea typeface="DM Sans"/>
                <a:cs typeface="DM Sans"/>
              </a:defRPr>
            </a:pPr>
            <a:r>
              <a:rPr sz="2025" b="0">
                <a:solidFill>
                  <a:srgbClr val="62736B"/>
                </a:solidFill>
                <a:latin typeface="DM Sans"/>
                <a:ea typeface="DM Sans"/>
                <a:cs typeface="DM Sans"/>
              </a:rPr>
              <a:t>under stated cost assumptions.</a:t>
            </a:r>
          </a:p>
          <a:p xmlns:a="http://schemas.openxmlformats.org/drawingml/2006/main">
            <a:pPr algn="l">
              <a:defRPr sz="2025" b="0">
                <a:solidFill>
                  <a:srgbClr val="62736B"/>
                </a:solidFill>
                <a:latin typeface="DM Sans"/>
                <a:ea typeface="DM Sans"/>
                <a:cs typeface="DM Sans"/>
              </a:defRPr>
            </a:pPr>
            <a:r>
              <a:rPr sz="2025" b="0">
                <a:solidFill>
                  <a:srgbClr val="62736B"/>
                </a:solidFill>
                <a:latin typeface="DM Sans"/>
                <a:ea typeface="DM Sans"/>
                <a:cs typeface="DM Sans"/>
              </a:rPr>
              <a:t>Support time is the biggest risk.</a:t>
            </a:r>
          </a:p>
        </p:txBody>
      </p:sp>
    </p:spTree>
    <p:extLst>
      <p:ext uri="{BB962C8B-B14F-4D97-AF65-F5344CB8AC3E}">
        <p14:creationId xmlns:p14="http://schemas.microsoft.com/office/powerpoint/2010/main" val="828163793"/>
      </p:ext>
    </p:extLst>
  </p:cSld>
</p:sld>
</file>

<file path=ppt/slides/slide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CBE4B3-113C-4F4F-8C90-DE1DD451BB3B}"/>
              </a:ext>
            </a:extLst>
          </p:cNvPr>
          <p:cNvSpPr>
            <a:spLocks xmlns:a="http://schemas.openxmlformats.org/drawingml/2006/main" noGrp="1"/>
          </p:cNvSpPr>
          <p:nvPr/>
        </p:nvSpPr>
        <p:spPr>
          <a:xfrm xmlns:a="http://schemas.openxmlformats.org/drawingml/2006/main">
            <a:off x="609600" y="4953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0">
                <a:solidFill>
                  <a:srgbClr val="183E36"/>
                </a:solidFill>
                <a:latin typeface="Instrument Serif"/>
                <a:ea typeface="Instrument Serif"/>
                <a:cs typeface="Instrument Serif"/>
              </a:defRPr>
            </a:pPr>
            <a:r>
              <a:rPr sz="3900" b="0">
                <a:solidFill>
                  <a:srgbClr val="183E36"/>
                </a:solidFill>
                <a:latin typeface="Instrument Serif"/>
                <a:ea typeface="Instrument Serif"/>
                <a:cs typeface="Instrument Serif"/>
              </a:rPr>
              <a:t>The next proof comes from makers</a:t>
            </a:r>
          </a:p>
        </p:txBody>
      </p:sp>
      <p:sp>
        <p:nvSpPr>
          <p:cNvPr id="2" name="">
            <a:extLst xmlns:a="http://schemas.openxmlformats.org/drawingml/2006/main">
              <a:ext uri="{FF2B5EF4-FFF2-40B4-BE49-F238E27FC236}">
                <a16:creationId xmlns:a16="http://schemas.microsoft.com/office/drawing/2014/main" id="{6B541900-99BD-4868-8139-F10FE11A35D3}"/>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2736B"/>
                </a:solidFill>
                <a:latin typeface="DM Sans"/>
                <a:ea typeface="DM Sans"/>
                <a:cs typeface="DM Sans"/>
              </a:defRPr>
            </a:pPr>
            <a:r>
              <a:rPr sz="1275" b="0">
                <a:solidFill>
                  <a:srgbClr val="62736B"/>
                </a:solidFill>
                <a:latin typeface="DM Sans"/>
                <a:ea typeface="DM Sans"/>
                <a:cs typeface="DM Sans"/>
              </a:rPr>
              <a:t>Batchlight</a:t>
            </a:r>
          </a:p>
        </p:txBody>
      </p:sp>
      <p:sp>
        <p:nvSpPr>
          <p:cNvPr id="3" name="">
            <a:extLst xmlns:a="http://schemas.openxmlformats.org/drawingml/2006/main">
              <a:ext uri="{FF2B5EF4-FFF2-40B4-BE49-F238E27FC236}">
                <a16:creationId xmlns:a16="http://schemas.microsoft.com/office/drawing/2014/main" id="{6672ECE4-8415-4843-9C90-13181815E964}"/>
              </a:ext>
            </a:extLst>
          </p:cNvPr>
          <p:cNvSpPr>
            <a:spLocks xmlns:a="http://schemas.openxmlformats.org/drawingml/2006/main" noGrp="1"/>
          </p:cNvSpPr>
          <p:nvPr/>
        </p:nvSpPr>
        <p:spPr>
          <a:xfrm xmlns:a="http://schemas.openxmlformats.org/drawingml/2006/main">
            <a:off x="11049000" y="63722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62736B"/>
                </a:solidFill>
                <a:latin typeface="DM Sans"/>
                <a:ea typeface="DM Sans"/>
                <a:cs typeface="DM Sans"/>
              </a:defRPr>
            </a:pPr>
            <a:r>
              <a:rPr sz="1275" b="0">
                <a:solidFill>
                  <a:srgbClr val="62736B"/>
                </a:solidFill>
                <a:latin typeface="DM Sans"/>
                <a:ea typeface="DM Sans"/>
                <a:cs typeface="DM Sans"/>
              </a:rPr>
              <a:t>08</a:t>
            </a:r>
          </a:p>
        </p:txBody>
      </p:sp>
      <p:sp>
        <p:nvSpPr>
          <p:cNvPr id="4" name="">
            <a:extLst xmlns:a="http://schemas.openxmlformats.org/drawingml/2006/main">
              <a:ext uri="{FF2B5EF4-FFF2-40B4-BE49-F238E27FC236}">
                <a16:creationId xmlns:a16="http://schemas.microsoft.com/office/drawing/2014/main" id="{AD2E5D8F-C74D-4231-B3AE-668E03A47348}"/>
              </a:ext>
            </a:extLst>
          </p:cNvPr>
          <p:cNvSpPr>
            <a:spLocks xmlns:a="http://schemas.openxmlformats.org/drawingml/2006/main" noGrp="1"/>
          </p:cNvSpPr>
          <p:nvPr/>
        </p:nvSpPr>
        <p:spPr>
          <a:xfrm xmlns:a="http://schemas.openxmlformats.org/drawingml/2006/main">
            <a:off x="628650" y="1638300"/>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950" b="0">
                <a:solidFill>
                  <a:srgbClr val="D45A38"/>
                </a:solidFill>
                <a:latin typeface="Instrument Serif"/>
                <a:ea typeface="Instrument Serif"/>
                <a:cs typeface="Instrument Serif"/>
              </a:defRPr>
            </a:pPr>
            <a:r>
              <a:rPr sz="4950" b="0">
                <a:solidFill>
                  <a:srgbClr val="D45A38"/>
                </a:solidFill>
                <a:latin typeface="Instrument Serif"/>
                <a:ea typeface="Instrument Serif"/>
                <a:cs typeface="Instrument Serif"/>
              </a:rPr>
              <a:t>5 observed rehearsals</a:t>
            </a:r>
          </a:p>
        </p:txBody>
      </p:sp>
      <p:sp>
        <p:nvSpPr>
          <p:cNvPr id="5" name="">
            <a:extLst xmlns:a="http://schemas.openxmlformats.org/drawingml/2006/main">
              <a:ext uri="{FF2B5EF4-FFF2-40B4-BE49-F238E27FC236}">
                <a16:creationId xmlns:a16="http://schemas.microsoft.com/office/drawing/2014/main" id="{343C48EA-671F-4EDE-B7DE-81CD9F9D0983}"/>
              </a:ext>
            </a:extLst>
          </p:cNvPr>
          <p:cNvSpPr>
            <a:spLocks xmlns:a="http://schemas.openxmlformats.org/drawingml/2006/main" noGrp="1"/>
          </p:cNvSpPr>
          <p:nvPr/>
        </p:nvSpPr>
        <p:spPr>
          <a:xfrm xmlns:a="http://schemas.openxmlformats.org/drawingml/2006/main">
            <a:off x="647700" y="27241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183E36"/>
                </a:solidFill>
                <a:latin typeface="DM Sans"/>
                <a:ea typeface="DM Sans"/>
                <a:cs typeface="DM Sans"/>
              </a:defRPr>
            </a:pPr>
            <a:r>
              <a:rPr sz="2550" b="0">
                <a:solidFill>
                  <a:srgbClr val="183E36"/>
                </a:solidFill>
                <a:latin typeface="DM Sans"/>
                <a:ea typeface="DM Sans"/>
                <a:cs typeface="DM Sans"/>
              </a:rPr>
              <a:t>Use consenting producers’ own records.</a:t>
            </a:r>
          </a:p>
        </p:txBody>
      </p:sp>
      <p:sp>
        <p:nvSpPr>
          <p:cNvPr id="6" name="">
            <a:extLst xmlns:a="http://schemas.openxmlformats.org/drawingml/2006/main">
              <a:ext uri="{FF2B5EF4-FFF2-40B4-BE49-F238E27FC236}">
                <a16:creationId xmlns:a16="http://schemas.microsoft.com/office/drawing/2014/main" id="{294BB981-5889-4C26-8420-77DF16E2E81C}"/>
              </a:ext>
            </a:extLst>
          </p:cNvPr>
          <p:cNvSpPr>
            <a:spLocks xmlns:a="http://schemas.openxmlformats.org/drawingml/2006/main" noGrp="1"/>
          </p:cNvSpPr>
          <p:nvPr/>
        </p:nvSpPr>
        <p:spPr>
          <a:xfrm xmlns:a="http://schemas.openxmlformats.org/drawingml/2006/main">
            <a:off x="647700" y="3514725"/>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83E36"/>
                </a:solidFill>
                <a:latin typeface="DM Sans"/>
                <a:ea typeface="DM Sans"/>
                <a:cs typeface="DM Sans"/>
              </a:defRPr>
            </a:pPr>
            <a:r>
              <a:rPr sz="2400" b="0">
                <a:solidFill>
                  <a:srgbClr val="183E36"/>
                </a:solidFill>
                <a:latin typeface="DM Sans"/>
                <a:ea typeface="DM Sans"/>
                <a:cs typeface="DM Sans"/>
              </a:rPr>
              <a:t>Measure correct recipients, unresolved evidence,</a:t>
            </a:r>
          </a:p>
          <a:p xmlns:a="http://schemas.openxmlformats.org/drawingml/2006/main">
            <a:pPr algn="l">
              <a:defRPr sz="2400" b="0">
                <a:solidFill>
                  <a:srgbClr val="183E36"/>
                </a:solidFill>
                <a:latin typeface="DM Sans"/>
                <a:ea typeface="DM Sans"/>
                <a:cs typeface="DM Sans"/>
              </a:defRPr>
            </a:pPr>
            <a:r>
              <a:rPr sz="2400" b="0">
                <a:solidFill>
                  <a:srgbClr val="183E36"/>
                </a:solidFill>
                <a:latin typeface="DM Sans"/>
                <a:ea typeface="DM Sans"/>
                <a:cs typeface="DM Sans"/>
              </a:rPr>
              <a:t>setup burden, repeated use, and support time.</a:t>
            </a:r>
          </a:p>
        </p:txBody>
      </p:sp>
      <p:sp>
        <p:nvSpPr>
          <p:cNvPr id="7" name="">
            <a:extLst xmlns:a="http://schemas.openxmlformats.org/drawingml/2006/main">
              <a:ext uri="{FF2B5EF4-FFF2-40B4-BE49-F238E27FC236}">
                <a16:creationId xmlns:a16="http://schemas.microsoft.com/office/drawing/2014/main" id="{8D560F37-795D-414C-9E17-961E0C69E2A6}"/>
              </a:ext>
            </a:extLst>
          </p:cNvPr>
          <p:cNvSpPr>
            <a:spLocks xmlns:a="http://schemas.openxmlformats.org/drawingml/2006/main" noGrp="1"/>
          </p:cNvSpPr>
          <p:nvPr/>
        </p:nvSpPr>
        <p:spPr>
          <a:xfrm xmlns:a="http://schemas.openxmlformats.org/drawingml/2006/main">
            <a:off x="647700" y="507682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183E36"/>
                </a:solidFill>
                <a:latin typeface="DM Sans"/>
                <a:ea typeface="DM Sans"/>
                <a:cs typeface="DM Sans"/>
              </a:defRPr>
            </a:pPr>
            <a:r>
              <a:rPr sz="2475" b="1">
                <a:solidFill>
                  <a:srgbClr val="183E36"/>
                </a:solidFill>
                <a:latin typeface="DM Sans"/>
                <a:ea typeface="DM Sans"/>
                <a:cs typeface="DM Sans"/>
              </a:rPr>
              <a:t>Offer a paid pilot only after the workflow earns trust.</a:t>
            </a:r>
          </a:p>
        </p:txBody>
      </p:sp>
      <p:sp>
        <p:nvSpPr>
          <p:cNvPr id="8" name="">
            <a:extLst xmlns:a="http://schemas.openxmlformats.org/drawingml/2006/main">
              <a:ext uri="{FF2B5EF4-FFF2-40B4-BE49-F238E27FC236}">
                <a16:creationId xmlns:a16="http://schemas.microsoft.com/office/drawing/2014/main" id="{E1CE2C06-7509-44BB-ABC6-4FC713885239}"/>
              </a:ext>
            </a:extLst>
          </p:cNvPr>
          <p:cNvSpPr>
            <a:spLocks xmlns:a="http://schemas.openxmlformats.org/drawingml/2006/main" noGrp="1"/>
          </p:cNvSpPr>
          <p:nvPr/>
        </p:nvSpPr>
        <p:spPr>
          <a:xfrm xmlns:a="http://schemas.openxmlformats.org/drawingml/2006/main">
            <a:off x="647700" y="59150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62736B"/>
                </a:solidFill>
                <a:latin typeface="DM Sans"/>
                <a:ea typeface="DM Sans"/>
                <a:cs typeface="DM Sans"/>
              </a:defRPr>
            </a:pPr>
            <a:r>
              <a:rPr sz="1500" b="0">
                <a:solidFill>
                  <a:srgbClr val="62736B"/>
                </a:solidFill>
                <a:latin typeface="DM Sans"/>
                <a:ea typeface="DM Sans"/>
                <a:cs typeface="DM Sans"/>
              </a:rPr>
              <a:t>Planned validation. No customer interviews or paid pilots have taken place.</a:t>
            </a:r>
          </a:p>
        </p:txBody>
      </p:sp>
    </p:spTree>
    <p:extLst>
      <p:ext uri="{BB962C8B-B14F-4D97-AF65-F5344CB8AC3E}">
        <p14:creationId xmlns:p14="http://schemas.microsoft.com/office/powerpoint/2010/main" val="1360428515"/>
      </p:ext>
    </p:extLst>
  </p:cSld>
</p:sld>
</file>

<file path=ppt/slides/slide9.xml><?xml version="1.0" encoding="utf-8"?>
<p:sld xmlns:p="http://schemas.openxmlformats.org/presentationml/2006/main">
  <p:cSld>
    <p:bg>
      <p:bgPr>
        <a:solidFill xmlns:a="http://schemas.openxmlformats.org/drawingml/2006/main">
          <a:srgbClr val="183E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C37042-A507-4396-86B1-80E8AEF54428}"/>
              </a:ext>
            </a:extLst>
          </p:cNvPr>
          <p:cNvSpPr>
            <a:spLocks xmlns:a="http://schemas.openxmlformats.org/drawingml/2006/main" noGrp="1"/>
          </p:cNvSpPr>
          <p:nvPr/>
        </p:nvSpPr>
        <p:spPr>
          <a:xfrm xmlns:a="http://schemas.openxmlformats.org/drawingml/2006/main">
            <a:off x="609600" y="63722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D7E1D8"/>
                </a:solidFill>
                <a:latin typeface="DM Sans"/>
                <a:ea typeface="DM Sans"/>
                <a:cs typeface="DM Sans"/>
              </a:defRPr>
            </a:pPr>
            <a:r>
              <a:rPr sz="1275" b="0">
                <a:solidFill>
                  <a:srgbClr val="D7E1D8"/>
                </a:solidFill>
                <a:latin typeface="DM Sans"/>
                <a:ea typeface="DM Sans"/>
                <a:cs typeface="DM Sans"/>
              </a:rPr>
              <a:t>Batchlight</a:t>
            </a:r>
          </a:p>
        </p:txBody>
      </p:sp>
      <p:sp>
        <p:nvSpPr>
          <p:cNvPr id="2" name="">
            <a:extLst xmlns:a="http://schemas.openxmlformats.org/drawingml/2006/main">
              <a:ext uri="{FF2B5EF4-FFF2-40B4-BE49-F238E27FC236}">
                <a16:creationId xmlns:a16="http://schemas.microsoft.com/office/drawing/2014/main" id="{FF1F2B99-9FD7-4C61-929D-019F13352070}"/>
              </a:ext>
            </a:extLst>
          </p:cNvPr>
          <p:cNvSpPr>
            <a:spLocks xmlns:a="http://schemas.openxmlformats.org/drawingml/2006/main" noGrp="1"/>
          </p:cNvSpPr>
          <p:nvPr/>
        </p:nvSpPr>
        <p:spPr>
          <a:xfrm xmlns:a="http://schemas.openxmlformats.org/drawingml/2006/main">
            <a:off x="11049000" y="63722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D7E1D8"/>
                </a:solidFill>
                <a:latin typeface="DM Sans"/>
                <a:ea typeface="DM Sans"/>
                <a:cs typeface="DM Sans"/>
              </a:defRPr>
            </a:pPr>
            <a:r>
              <a:rPr sz="1275" b="0">
                <a:solidFill>
                  <a:srgbClr val="D7E1D8"/>
                </a:solidFill>
                <a:latin typeface="DM Sans"/>
                <a:ea typeface="DM Sans"/>
                <a:cs typeface="DM Sans"/>
              </a:rPr>
              <a:t>09</a:t>
            </a:r>
          </a:p>
        </p:txBody>
      </p:sp>
      <p:sp>
        <p:nvSpPr>
          <p:cNvPr id="3" name="">
            <a:extLst xmlns:a="http://schemas.openxmlformats.org/drawingml/2006/main">
              <a:ext uri="{FF2B5EF4-FFF2-40B4-BE49-F238E27FC236}">
                <a16:creationId xmlns:a16="http://schemas.microsoft.com/office/drawing/2014/main" id="{48B25814-6DEC-4EE2-AC6F-15BCA11BA71A}"/>
              </a:ext>
            </a:extLst>
          </p:cNvPr>
          <p:cNvSpPr>
            <a:spLocks xmlns:a="http://schemas.openxmlformats.org/drawingml/2006/main" noGrp="1"/>
          </p:cNvSpPr>
          <p:nvPr/>
        </p:nvSpPr>
        <p:spPr>
          <a:xfrm xmlns:a="http://schemas.openxmlformats.org/drawingml/2006/main">
            <a:off x="628650" y="1143000"/>
            <a:ext cx="10925175" cy="3114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225" b="0">
                <a:solidFill>
                  <a:srgbClr val="F7F6F0"/>
                </a:solidFill>
                <a:latin typeface="Instrument Serif"/>
                <a:ea typeface="Instrument Serif"/>
                <a:cs typeface="Instrument Serif"/>
              </a:defRPr>
            </a:pPr>
            <a:r>
              <a:rPr sz="6225" b="0">
                <a:solidFill>
                  <a:srgbClr val="F7F6F0"/>
                </a:solidFill>
                <a:latin typeface="Instrument Serif"/>
                <a:ea typeface="Instrument Serif"/>
                <a:cs typeface="Instrument Serif"/>
              </a:rPr>
              <a:t>A recall should not be</a:t>
            </a:r>
          </a:p>
          <a:p xmlns:a="http://schemas.openxmlformats.org/drawingml/2006/main">
            <a:pPr algn="l">
              <a:defRPr sz="6225" b="0">
                <a:solidFill>
                  <a:srgbClr val="F7F6F0"/>
                </a:solidFill>
                <a:latin typeface="Instrument Serif"/>
                <a:ea typeface="Instrument Serif"/>
                <a:cs typeface="Instrument Serif"/>
              </a:defRPr>
            </a:pPr>
            <a:r>
              <a:rPr sz="6225" b="0">
                <a:solidFill>
                  <a:srgbClr val="F7F6F0"/>
                </a:solidFill>
                <a:latin typeface="Instrument Serif"/>
                <a:ea typeface="Instrument Serif"/>
                <a:cs typeface="Instrument Serif"/>
              </a:rPr>
              <a:t>the first time you test</a:t>
            </a:r>
          </a:p>
          <a:p xmlns:a="http://schemas.openxmlformats.org/drawingml/2006/main">
            <a:pPr algn="l">
              <a:defRPr sz="6225" b="0">
                <a:solidFill>
                  <a:srgbClr val="F7F6F0"/>
                </a:solidFill>
                <a:latin typeface="Instrument Serif"/>
                <a:ea typeface="Instrument Serif"/>
                <a:cs typeface="Instrument Serif"/>
              </a:defRPr>
            </a:pPr>
            <a:r>
              <a:rPr sz="6225" b="0">
                <a:solidFill>
                  <a:srgbClr val="F7F6F0"/>
                </a:solidFill>
                <a:latin typeface="Instrument Serif"/>
                <a:ea typeface="Instrument Serif"/>
                <a:cs typeface="Instrument Serif"/>
              </a:rPr>
              <a:t>your records.</a:t>
            </a:r>
          </a:p>
        </p:txBody>
      </p:sp>
      <p:sp>
        <p:nvSpPr>
          <p:cNvPr id="4" name="">
            <a:extLst xmlns:a="http://schemas.openxmlformats.org/drawingml/2006/main">
              <a:ext uri="{FF2B5EF4-FFF2-40B4-BE49-F238E27FC236}">
                <a16:creationId xmlns:a16="http://schemas.microsoft.com/office/drawing/2014/main" id="{2313714D-5DCF-4503-A323-1AB462986FF8}"/>
              </a:ext>
            </a:extLst>
          </p:cNvPr>
          <p:cNvSpPr>
            <a:spLocks xmlns:a="http://schemas.openxmlformats.org/drawingml/2006/main" noGrp="1"/>
          </p:cNvSpPr>
          <p:nvPr/>
        </p:nvSpPr>
        <p:spPr>
          <a:xfrm xmlns:a="http://schemas.openxmlformats.org/drawingml/2006/main">
            <a:off x="657225" y="461962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825" b="0">
                <a:solidFill>
                  <a:srgbClr val="D7E1D8"/>
                </a:solidFill>
                <a:latin typeface="Instrument Serif"/>
                <a:ea typeface="Instrument Serif"/>
                <a:cs typeface="Instrument Serif"/>
              </a:defRPr>
            </a:pPr>
            <a:r>
              <a:rPr sz="3825" b="0">
                <a:solidFill>
                  <a:srgbClr val="D7E1D8"/>
                </a:solidFill>
                <a:latin typeface="Instrument Serif"/>
                <a:ea typeface="Instrument Serif"/>
                <a:cs typeface="Instrument Serif"/>
              </a:rPr>
              <a:t>Batchlight</a:t>
            </a:r>
          </a:p>
        </p:txBody>
      </p:sp>
      <p:sp>
        <p:nvSpPr>
          <p:cNvPr id="5" name="">
            <a:extLst xmlns:a="http://schemas.openxmlformats.org/drawingml/2006/main">
              <a:ext uri="{FF2B5EF4-FFF2-40B4-BE49-F238E27FC236}">
                <a16:creationId xmlns:a16="http://schemas.microsoft.com/office/drawing/2014/main" id="{DD0997E7-FBF8-47DD-9C27-ED9B5B7141B9}"/>
              </a:ext>
            </a:extLst>
          </p:cNvPr>
          <p:cNvSpPr>
            <a:spLocks xmlns:a="http://schemas.openxmlformats.org/drawingml/2006/main" noGrp="1"/>
          </p:cNvSpPr>
          <p:nvPr/>
        </p:nvSpPr>
        <p:spPr>
          <a:xfrm xmlns:a="http://schemas.openxmlformats.org/drawingml/2006/main">
            <a:off x="666750" y="5610225"/>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F7F6F0"/>
                </a:solidFill>
                <a:latin typeface="DM Sans"/>
                <a:ea typeface="DM Sans"/>
                <a:cs typeface="DM Sans"/>
              </a:defRPr>
            </a:pPr>
            <a:r>
              <a:rPr sz="2175" b="0">
                <a:solidFill>
                  <a:srgbClr val="F7F6F0"/>
                </a:solidFill>
                <a:latin typeface="DM Sans"/>
                <a:ea typeface="DM Sans"/>
                <a:cs typeface="DM Sans"/>
              </a:rPr>
              <a:t>github.com/shi1720/HACK47</a:t>
            </a:r>
          </a:p>
        </p:txBody>
      </p:sp>
    </p:spTree>
    <p:extLst>
      <p:ext uri="{BB962C8B-B14F-4D97-AF65-F5344CB8AC3E}">
        <p14:creationId xmlns:p14="http://schemas.microsoft.com/office/powerpoint/2010/main" val="3149944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2026-09-22T04:52:13.5620000Z</dcterms:created>
  <dcterms:modified xsi:type="dcterms:W3CDTF">2026-09-22T04:52:13.5620000Z</dcterms:modified>
</coreProperties>
</file>